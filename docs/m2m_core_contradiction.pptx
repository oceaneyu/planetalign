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f0967ddd6945f7" /><Relationship Type="http://schemas.openxmlformats.org/officeDocument/2006/relationships/extended-properties" Target="/docProps/app.xml" Id="Rb517ef6015a04f57" /><Relationship Type="http://schemas.openxmlformats.org/officeDocument/2006/relationships/officeDocument" Target="/ppt/presentation.xml" Id="R8001f826ba874e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0be0c3a074f05"/>
  </p:sldMasterIdLst>
  <p:notesMasterIdLst>
    <p:notesMasterId xmlns:r="http://schemas.openxmlformats.org/officeDocument/2006/relationships" r:id="R3a7a3e7cd75f4046"/>
  </p:notesMasterIdLst>
  <p:sldIdLst>
    <p:sldId xmlns:r="http://schemas.openxmlformats.org/officeDocument/2006/relationships" id="256" r:id="Rc31e41e1251145df"/>
    <p:sldId xmlns:r="http://schemas.openxmlformats.org/officeDocument/2006/relationships" id="257" r:id="R3a726b5bba9b4dc2"/>
    <p:sldId xmlns:r="http://schemas.openxmlformats.org/officeDocument/2006/relationships" id="258" r:id="Rb62efb9aab064f02"/>
    <p:sldId xmlns:r="http://schemas.openxmlformats.org/officeDocument/2006/relationships" id="259" r:id="R6cff388af89d4a03"/>
    <p:sldId xmlns:r="http://schemas.openxmlformats.org/officeDocument/2006/relationships" id="260" r:id="Rf932472a2f24413c"/>
    <p:sldId xmlns:r="http://schemas.openxmlformats.org/officeDocument/2006/relationships" id="261" r:id="Re29a3257f61542be"/>
    <p:sldId xmlns:r="http://schemas.openxmlformats.org/officeDocument/2006/relationships" id="262" r:id="Raf27d41f36074e2e"/>
    <p:sldId xmlns:r="http://schemas.openxmlformats.org/officeDocument/2006/relationships" id="263" r:id="Rc0895ce4e3924e05"/>
    <p:sldId xmlns:r="http://schemas.openxmlformats.org/officeDocument/2006/relationships" id="264" r:id="R4abd114d683e493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fca8b6e90b4266" /><Relationship Type="http://schemas.openxmlformats.org/officeDocument/2006/relationships/slideMaster" Target="/ppt/slideMasters/slideMaster1.xml" Id="R2590be0c3a074f05" /><Relationship Type="http://schemas.openxmlformats.org/officeDocument/2006/relationships/notesMaster" Target="/ppt/notesMasters/notesMaster1.xml" Id="R3a7a3e7cd75f4046" /><Relationship Type="http://schemas.openxmlformats.org/officeDocument/2006/relationships/presProps" Target="/ppt/presProps.xml" Id="R3ecef18a6a084881" /><Relationship Type="http://schemas.openxmlformats.org/officeDocument/2006/relationships/viewProps" Target="/ppt/viewProps.xml" Id="Ra22b16ea0d634d79" /><Relationship Type="http://schemas.openxmlformats.org/officeDocument/2006/relationships/tableStyles" Target="/ppt/tableStyles.xml" Id="R9430855cce444d6b" /><Relationship Type="http://schemas.openxmlformats.org/officeDocument/2006/relationships/slide" Target="/ppt/slides/slide1.xml" Id="Rc31e41e1251145df" /><Relationship Type="http://schemas.openxmlformats.org/officeDocument/2006/relationships/slide" Target="/ppt/slides/slide2.xml" Id="R3a726b5bba9b4dc2" /><Relationship Type="http://schemas.openxmlformats.org/officeDocument/2006/relationships/slide" Target="/ppt/slides/slide3.xml" Id="Rb62efb9aab064f02" /><Relationship Type="http://schemas.openxmlformats.org/officeDocument/2006/relationships/slide" Target="/ppt/slides/slide4.xml" Id="R6cff388af89d4a03" /><Relationship Type="http://schemas.openxmlformats.org/officeDocument/2006/relationships/slide" Target="/ppt/slides/slide5.xml" Id="Rf932472a2f24413c" /><Relationship Type="http://schemas.openxmlformats.org/officeDocument/2006/relationships/slide" Target="/ppt/slides/slide6.xml" Id="Re29a3257f61542be" /><Relationship Type="http://schemas.openxmlformats.org/officeDocument/2006/relationships/slide" Target="/ppt/slides/slide7.xml" Id="Raf27d41f36074e2e" /><Relationship Type="http://schemas.openxmlformats.org/officeDocument/2006/relationships/slide" Target="/ppt/slides/slide8.xml" Id="Rc0895ce4e3924e05" /><Relationship Type="http://schemas.openxmlformats.org/officeDocument/2006/relationships/slide" Target="/ppt/slides/slide9.xml" Id="R4abd114d683e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97a66ed7ac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2c43ab3aeb4d16" /><Relationship Type="http://schemas.openxmlformats.org/officeDocument/2006/relationships/notesMaster" Target="/ppt/notesMasters/notesMaster1.xml" Id="R5f20a98ac95f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461039cf134a29" /><Relationship Type="http://schemas.openxmlformats.org/officeDocument/2006/relationships/notesMaster" Target="/ppt/notesMasters/notesMaster1.xml" Id="R878412bea6324c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1b4ff7a90a46c2" /><Relationship Type="http://schemas.openxmlformats.org/officeDocument/2006/relationships/notesMaster" Target="/ppt/notesMasters/notesMaster1.xml" Id="Rb3e0d64e710446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7691129cb7438b" /><Relationship Type="http://schemas.openxmlformats.org/officeDocument/2006/relationships/notesMaster" Target="/ppt/notesMasters/notesMaster1.xml" Id="Rb4abb61f3fbc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abf4d2ff64d7f" /><Relationship Type="http://schemas.openxmlformats.org/officeDocument/2006/relationships/notesMaster" Target="/ppt/notesMasters/notesMaster1.xml" Id="R995d8dba1f16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4a185805b44273" /><Relationship Type="http://schemas.openxmlformats.org/officeDocument/2006/relationships/notesMaster" Target="/ppt/notesMasters/notesMaster1.xml" Id="R8a56be49c9444d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eaa2a688494c44" /><Relationship Type="http://schemas.openxmlformats.org/officeDocument/2006/relationships/notesMaster" Target="/ppt/notesMasters/notesMaster1.xml" Id="R17c0b2ba884f4c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d480201234c5e" /><Relationship Type="http://schemas.openxmlformats.org/officeDocument/2006/relationships/notesMaster" Target="/ppt/notesMasters/notesMaster1.xml" Id="R14caadf8710143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c49feb672c405b" /><Relationship Type="http://schemas.openxmlformats.org/officeDocument/2006/relationships/notesMaster" Target="/ppt/notesMasters/notesMaster1.xml" Id="R30d3658f230d47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开场：一对一方法在自家基准上很强，但同一批方法搬到多对多上集体失灵。本次汇报不罗列失败清单，而是把所有失败压缩成一个矛盾，并由此推出多对多应当学什么。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三个前提缺一不可：节点=实体、近同构、排他性有益。三族方法只是把同一个排他性先验写成不同数学形式：不动点、差异性正则、边际约束。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数据来自仓库 M2M 基准：Douban 895 实体中 442 个需要图内共指；argmax 读出天花板 0.821 是结构性上限，任何一对一读出（包括 oracle）都逃不掉。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关键方法论：不急着设计模块，先盯着模型哪里不正常。第 4、5 条最重要——嵌入不是瓶颈，S 的行空间早已携带分组信号，只是一对一读出说不出来。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一句话矛盾：排他性先验（1-1 的胜因）与等价类结构（M2M 的本质）不相容。三族的失败方向相反（坍缩/锁死/推开），说明问题不在某个模块，而在共享的学习对象。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每条困难都能追溯到同一个矛盾；解法也因此共享一个方向：把对象从节点耦合升到群组。绿色列是可执行动作，其中第 1、5 行在仓库中已实现并验证。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学习对象从“节点对”升级为“等价类”：图内先答“谁与谁同指”，图间在商图上答“组对组”。证据：S 行画像共线性把组员和非组员分得很开，这是模型自己给出的分组信号。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三步共享同一机制：S 行共线性。第一步已在仓库落地（m2m_decode.py），第二、三步把同一信号前移进训练目标。评测纪律单列，因为泄漏式适配器曾把分数抬高 4.7 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收束到四个一。落点：下一步工作不是发明新模块，而是把已验证的行共线机制前移进训练目标（profile 对比、组级 OT），并坚持盲评。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abfbdb0534ed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56b9ab1474ad3" /><Relationship Type="http://schemas.openxmlformats.org/officeDocument/2006/relationships/slideLayout" Target="/ppt/slideLayouts/slideLayout1.xml" Id="R5d8f6fa1e04742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8f6fa1e04742b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7f2bc6f924093" /><Relationship Type="http://schemas.openxmlformats.org/officeDocument/2006/relationships/notesSlide" Target="/ppt/notesSlides/notesSlide1.xml" Id="R738282e673d243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fddfeb2134ed8" /><Relationship Type="http://schemas.openxmlformats.org/officeDocument/2006/relationships/notesSlide" Target="/ppt/notesSlides/notesSlide2.xml" Id="R9f64d9389c8143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6d792b5a24add" /><Relationship Type="http://schemas.openxmlformats.org/officeDocument/2006/relationships/notesSlide" Target="/ppt/notesSlides/notesSlide3.xml" Id="R501cf566ae03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b8296b1c9400e" /><Relationship Type="http://schemas.openxmlformats.org/officeDocument/2006/relationships/notesSlide" Target="/ppt/notesSlides/notesSlide4.xml" Id="Reeef49c3190b46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ad2f2e38d4796" /><Relationship Type="http://schemas.openxmlformats.org/officeDocument/2006/relationships/notesSlide" Target="/ppt/notesSlides/notesSlide5.xml" Id="R4e4c9d20e0d448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de8f516784afe" /><Relationship Type="http://schemas.openxmlformats.org/officeDocument/2006/relationships/notesSlide" Target="/ppt/notesSlides/notesSlide6.xml" Id="R829ba19c4d8d4e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65f248c5418a" /><Relationship Type="http://schemas.openxmlformats.org/officeDocument/2006/relationships/notesSlide" Target="/ppt/notesSlides/notesSlide7.xml" Id="R8c243409c3314c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318d2b5094570" /><Relationship Type="http://schemas.openxmlformats.org/officeDocument/2006/relationships/notesSlide" Target="/ppt/notesSlides/notesSlide8.xml" Id="R840ed21e771346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57f89b6984132" /><Relationship Type="http://schemas.openxmlformats.org/officeDocument/2006/relationships/notesSlide" Target="/ppt/notesSlides/notesSlide9.xml" Id="R95c2aa27ef8e4e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47E5A9-581F-463E-8AC5-D9A3E5C6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7724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PlanetAlign · 多对多图对齐研究笔记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AF832D-2304-499D-B3DA-05503F00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8046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一对一图对齐，为什么解不了多对多？</a:t>
            </a:r>
            <a:endParaRPr sz="3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DED67C-B327-4813-9A07-32180A64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把 18 个方法的失败统一成 </a:t>
            </a:r>
            <a:r>
              <a:rPr sz="170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一个核心矛盾</a:t>
            </a:r>
            <a:r>
              <a:rPr sz="17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，找回正确的“学习对象”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9556734-F275-425A-8F6B-0BD8A2F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4984" y="3300984"/>
            <a:ext cx="64008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BD64DC2-E9C4-445A-B092-C82A1E40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621024"/>
            <a:ext cx="50292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795A8F-42B7-4456-A8E9-5EF62F1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3300984"/>
            <a:ext cx="59436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449483F-69E5-4882-B306-BCFF8B40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17904" y="3803904"/>
            <a:ext cx="73152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04F561F-4C18-4693-A40C-AB4BCA70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044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9CBB3B1-A27A-43BB-9FB6-B8FC11E5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20040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715CD31-D80B-4CA6-9503-3987760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7E77874-F1FB-495E-80BD-8056A71A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7033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19CAC74-8C8E-4190-964C-3ED2069A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063240"/>
            <a:ext cx="1737360" cy="1051560"/>
          </a:xfrm>
          <a:prstGeom xmlns:a="http://schemas.openxmlformats.org/drawingml/2006/main" prst="roundRect">
            <a:avLst>
              <a:gd name="adj" fmla="val 24348"/>
            </a:avLst>
          </a:prstGeom>
          <a:solidFill xmlns:a="http://schemas.openxmlformats.org/drawingml/2006/main">
            <a:srgbClr val="26336E"/>
          </a:solidFill>
          <a:ln xmlns:a="http://schemas.openxmlformats.org/drawingml/2006/main" w="19050">
            <a:solidFill>
              <a:srgbClr val="F0C75E"/>
            </a:solidFill>
            <a:prstDash val="dash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A7046D2-FE92-48E1-9736-CA42D16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18504" y="3300984"/>
            <a:ext cx="59436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6F2CFD-D72F-4139-AE71-B36B57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392424"/>
            <a:ext cx="32004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36B34C-B492-409F-9FFF-8B9AAE55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38544" y="3300984"/>
            <a:ext cx="27432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A72F4E0-F492-47E4-A80C-9F4F6D3C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3300984"/>
            <a:ext cx="11430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A8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C29269C-17D2-4607-B0A1-EA96B596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702B8FA-76FD-4AE8-B403-DFC6B661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20040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4A7D7BB-5F35-43AA-816C-9AC7940C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33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75E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0B67822-E932-4F2B-B91F-F3FDE9FC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56616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7A44B98-454A-405D-81E7-E8E001A8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83280"/>
            <a:ext cx="356616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0C75E"/>
            </a:solidFill>
            <a:prstDash val="dash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0E93228-9C29-4789-8640-4C4D16CF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77440" y="3840480"/>
            <a:ext cx="356616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0C75E"/>
            </a:solidFill>
            <a:prstDash val="dash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B40B01B-27B7-4EB9-A65F-7234EA15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15968"/>
            <a:ext cx="1737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1 个节点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EBBDBC4-FAA0-4B63-96D2-84FA0C71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315968"/>
            <a:ext cx="2651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↔  同一实体的一组节点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6E985E8-7A5A-4D36-8D23-7A4A168D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36592"/>
            <a:ext cx="7863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FA3D6"/>
                </a:solidFill>
                <a:latin typeface="微软雅黑"/>
                <a:ea typeface="微软雅黑"/>
                <a:cs typeface="微软雅黑"/>
              </a:rPr>
              <a:t>实证：Douban / Cora M2M 基准 · 复现：scripts/diagnose_m2m_failure.py · 2026-07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39335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08D44C-D991-4C84-A5B3-C2BC81CE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一对一方法为什么成功：三个隐含前提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066DDD3-0DC0-42F0-A528-4D44D33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624328" cy="1481328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4A01B4-4B8A-4B0D-A0C3-E78F25C4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7899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19B1CD-5AE4-471C-8754-BA54D824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68019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73C7938-39F5-4441-A88A-DED10705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042416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节点即实体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E7AD7D-9BA8-4302-BB7E-314F935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36192"/>
            <a:ext cx="2286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身份的最小单位是节点；每个节点在对面图恰有一个正确伙伴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E57C85F-4C90-40EF-8630-A722C955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914400"/>
            <a:ext cx="2624328" cy="1481328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BD134CD-1F3F-48DA-80C2-3D5433D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7899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34DFB3-2396-40BE-B83B-2159506C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8019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59D216-483F-4AAA-9ACC-F50F2FE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042416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两图近似同构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5EEA29-C5CF-46AA-ABFE-23FEDF5E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536192"/>
            <a:ext cx="2286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互为置换扰动；节点的邻域结构跨图保持，度分布对应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FD5073E-0E53-40C1-9D70-62A16BA4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914400"/>
            <a:ext cx="2624328" cy="1481328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DB868BE-96A0-458A-A600-0B31820A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07899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291C506-24D2-4327-A3EB-D6F001A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068019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E2E799B-AC01-4C90-A8EC-3B52A394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042416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排他性先验有效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105AD35-A497-40F4-88EE-96620C1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536192"/>
            <a:ext cx="2286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让候选相互竞争、赢者通吃——唯一性是有益的归纳偏置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72B162-C508-415B-A898-D9C3948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5184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三族方法，把“排他性”分别写进目标函数</a:t>
            </a:r>
            <a:endParaRPr sz="15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62B15F6-F580-421A-9AE7-768296FC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2624328" cy="1225296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D40D042-C70D-45AA-AE48-DDBD7BA0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27248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一致性 · IsoRank / FINAL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5BE288-9A99-4CE1-918F-91AADDD9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74720"/>
            <a:ext cx="2331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对齐一致性不动点：邻居的邻居也对齐，解在近置换处稳定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A0E55FE-AFED-47BD-9E0F-21B85EDC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017520"/>
            <a:ext cx="2624328" cy="1225296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65EF31C-FE3E-4996-A567-CB2FC09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7248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嵌入 · REGAL / BRIGHT / NeXtAlign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8B438D-E7BE-467B-8D38-CF31760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4720"/>
            <a:ext cx="2331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一节点一向量 + 最近邻读出；差异性正则刻意推开近似重复节点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557160F-B0D4-42C3-9881-406F86F2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17520"/>
            <a:ext cx="2624328" cy="1225296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2C9E2CB-3332-4B4B-A75F-33C24952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127248"/>
            <a:ext cx="2331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最优传输 · PARROT / JOENA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147931A-C449-4C6B-8909-2A9AA2D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474720"/>
            <a:ext cx="2331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质量守恒 S∈Π(μ1,μ2)：每个节点的质量恰好 1/n，不能多也不能少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0375C91-FF75-45AC-9335-1B19FFCA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3984"/>
            <a:ext cx="82296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在这些前提下：</a:t>
            </a:r>
            <a:r>
              <a:rPr sz="1350" b="1" i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“节点匹配” ≡ “实体解析”</a:t>
            </a:r>
            <a:r>
              <a:rPr sz="1350" i="1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，一张 S∈R(n1×n2) 就是答案的完整表示。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921874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7A06C3-4F40-421C-9F27-2ED00E28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前提在真实多对多中崩塌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3AA7A33-D80C-4DB5-BC08-52B34F40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2743200" cy="2999232"/>
          </a:xfrm>
          <a:prstGeom xmlns:a="http://schemas.openxmlformats.org/drawingml/2006/main" prst="roundRect">
            <a:avLst>
              <a:gd name="adj" fmla="val 2333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940E157-239F-4580-9AAA-818018D4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24128"/>
            <a:ext cx="2468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M2M 基准的生成方式：节点拆分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ED2282C-F064-42A6-93A9-55BB152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8132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DF81DC-42C6-4213-98EC-6DB6973F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1536192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原节点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77ADD0-68F8-42C4-9F48-68D25DB8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1956816"/>
            <a:ext cx="0" cy="310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C11BCD-734C-4EB8-B3B2-09CC755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40864"/>
            <a:ext cx="2084832" cy="9144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92B"/>
            </a:solidFill>
            <a:prstDash val="dash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67CEDCD-E66C-47EB-9315-A67F4E7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4712" y="2624328"/>
            <a:ext cx="704088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E4A9A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3335FC4-EEE9-4DF1-83BA-DA58592A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24328"/>
            <a:ext cx="667512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E4A9A2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220E63F-89E1-4CD3-BF3E-4FCF4C63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61518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3A7D5E6-06FC-4FFC-8577-99CD263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4688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B659976-3810-41BE-9A07-6992DB4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6517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05D8548-AA48-4A7D-83DB-9CC5FC3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46704"/>
            <a:ext cx="243230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同一实体的 k 个节点：每个只保留约 1/k 的原有邻居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5C6A36-4BAA-43F5-A453-6F2B68C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914400"/>
            <a:ext cx="2615184" cy="1426464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928452-CC8D-4BF9-8F68-7CB9B8B9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98755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49%</a:t>
            </a:r>
            <a:endParaRPr sz="2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C459D21-3EC4-480D-A976-179C6F26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81328"/>
            <a:ext cx="230428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Douban 实体需要图内共指（442 / 895）——“同图两节点是同一人”在 S 中无处表达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4BCF8BD-5B47-4220-AA66-E7D290EB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914400"/>
            <a:ext cx="2615184" cy="1426464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CDB997-8CFB-4EFC-B973-B7832E2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98755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0.821</a:t>
            </a:r>
            <a:endParaRPr sz="2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444720A-3C11-4FAE-95FA-7952F01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481328"/>
            <a:ext cx="230428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argmax 读出的召回天花板：与方法无关，oracle 也被封顶（Cora 0.837）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D6F1850-CAA9-4B2E-84B3-D29D6D91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87168"/>
            <a:ext cx="2615184" cy="1426464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23A2348-BF04-4A7A-877E-542B859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6032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203 个 N-1</a:t>
            </a:r>
            <a:endParaRPr sz="2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E476D1-CD67-4DF0-8BFE-D4BFDC3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54096"/>
            <a:ext cx="230428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Douban 两侧规模 4265 vs 1460，多对一密集——恰是排他性禁止的形态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DFE525F-51CB-4958-8C9C-72CC72E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487168"/>
            <a:ext cx="2615184" cy="1426464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4DEF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E92D514-ACD1-4BED-A714-9D8EB88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56032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30%</a:t>
            </a:r>
            <a:endParaRPr sz="2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2DC9521-6C67-4470-BFCD-39E8E958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054096"/>
            <a:ext cx="230428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Cora 亦然：651 / 2167 实体需图内共指——跨数据集皆常态，并非 Douban 特例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D381E95-7488-42A3-A00C-6CD249F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624328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BECEA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6C922F5-25BD-45F9-8B4B-D9867BE1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87952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P1 崩塌　</a:t>
            </a:r>
            <a:r>
              <a:rPr sz="1100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节点 ≠ 实体：身份单位变成“节点群组”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D9E2923-60CD-48B1-B376-AC85EB09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4114800"/>
            <a:ext cx="2624328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BECEA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FE12665-743F-4D8F-B8CC-99D0EC1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187952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P2 崩塌　</a:t>
            </a:r>
            <a:r>
              <a:rPr sz="1100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度被拆散成 1/k：近同构假设不再成立</a:t>
            </a:r>
            <a:endParaRPr sz="11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1CEEAF6-E4DA-46FC-BC3F-895CC3D6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114800"/>
            <a:ext cx="2624328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BECE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9F25730-2BD1-4D66-9C26-726363FD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87952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P3 崩塌　</a:t>
            </a:r>
            <a:r>
              <a:rPr sz="1100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排他性从最强助力，变成结构性禁令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60221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04E5D8-E7A0-40B2-96BF-D582B22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观察异常：模型哪里“不正常”？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D923346-341E-4BEB-8518-EE92E0B5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75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0DCF5A-13C6-4C21-9544-42AFA60F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6579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EEC9B0-CAAC-45A6-B931-6313941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914400"/>
            <a:ext cx="55778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枢纽坍缩　</a:t>
            </a: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IsoRank 把海量源节点的 argmax 指向同一个目标节点；Hits@1 = 0.031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702AC4B-49D6-4908-8137-26F9DD8F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877824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3110 → 1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B0EAFE4-B54F-4ECC-BE1E-E5A9352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26187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个源节点 · 同一目标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064374D-64B4-4251-9083-CFA6766B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91056"/>
            <a:ext cx="7754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081220-5CC0-477F-8F1B-3A74A5F6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1BBD64-4764-43A7-B792-68AECE5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6387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AAF46-44BB-4769-BAF9-19DC607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64208"/>
            <a:ext cx="55778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完美均匀　</a:t>
            </a: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JOENA 的列边际严格均匀——耦合被质量守恒锁成“软置换”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68CA50D-0AFB-4F97-AC62-61A77468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627632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CoV = 0.00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531F74-2FFE-4B8C-9D4D-B03C165D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01168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列边际变异系数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E8C55B8-8CEB-438E-8CFA-8838A766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40864"/>
            <a:ext cx="7754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5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4D7ACA1-2C72-4867-A3BA-47606E5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71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58B963-5BA7-40F9-A058-CB90C8F1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195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FF45EA-0A29-4DC0-9D98-84807D92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14016"/>
            <a:ext cx="55778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分数来自泄漏　</a:t>
            </a: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同一个 S：泄漏式适配器 0.429，盲评只剩 0.091（PARROT, MicroF1）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49AC018-0E5A-4F7C-A984-DE4D619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377440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4.7×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90A2419-FE78-41B3-99C7-581D0EF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76148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指标虚高倍数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01C7F95-D903-4CC9-B706-62CC4A4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90672"/>
            <a:ext cx="7754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5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1428E99-BB60-43FF-A93D-3B5C71A3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69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2F8A6C4-7742-4718-9369-E1CA624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6003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C456F2-E08D-4815-8419-80A78D16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63824"/>
            <a:ext cx="55778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正则无效　</a:t>
            </a: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给 JOENA 加“组内聚”嵌入正则是 no-op——嵌入早已把组员拉近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640D9D8-D18E-4887-9B9D-AC752CB2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127248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Δ ≈ 0</a:t>
            </a:r>
            <a:endParaRPr sz="17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BD303A-6241-454E-BA3A-048E267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11296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加正则后的提升</a:t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6C33724-882D-4C35-9371-4468A47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40480"/>
            <a:ext cx="7754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5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0601C4C-DD8E-4A7A-824F-7F9088C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67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DE0120-5535-487A-B91F-BD54B4A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5811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5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8A6CB9B-1354-4DD6-A42C-4205306E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13632"/>
            <a:ext cx="55778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S 早已知道答案　</a:t>
            </a:r>
            <a:r>
              <a:rPr sz="12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组员的 S 行画像近共线、非组员近正交（属性相同且相邻也分得开）</a:t>
            </a:r>
            <a:endParaRPr sz="13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507DD92-A72D-4965-A0CF-3D82B853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77056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>
                <a:solidFill>
                  <a:srgbClr val="0E7C66"/>
                </a:solidFill>
                <a:latin typeface="微软雅黑"/>
                <a:ea typeface="微软雅黑"/>
                <a:cs typeface="微软雅黑"/>
              </a:rPr>
              <a:t>0.4 vs 0.0</a:t>
            </a:r>
            <a:endParaRPr sz="17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95A8EA9-870A-47A6-9DA5-1E0C0A11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261104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行画像余弦：组内 / 组外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54F0F8-97B9-4D09-AA67-3F46B341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65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 i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五个表面异常，指向同一个底层机制 →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782692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DBA2D0-7DC8-4691-BBC5-038B190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统一：一个核心矛盾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60E3AA6-5FAE-4F8E-839E-5D5F72D8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96112"/>
            <a:ext cx="7863840" cy="173736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26336E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15EC22-EB1D-4EA5-A7BE-77432DC2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2416"/>
            <a:ext cx="73152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6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一对一方法赢在 </a:t>
            </a:r>
            <a:r>
              <a:rPr sz="16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节点级排他性</a:t>
            </a:r>
            <a:r>
              <a:rPr sz="16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：每个节点恰有一个伙伴；</a:t>
            </a:r>
            <a:endParaRPr sz="16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6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多对多的本质是 </a:t>
            </a:r>
            <a:r>
              <a:rPr sz="16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实体级等价类</a:t>
            </a:r>
            <a:r>
              <a:rPr sz="16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：多个节点共享同一个身份。</a:t>
            </a:r>
            <a:endParaRPr sz="16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650" b="1">
                <a:solidFill>
                  <a:srgbClr val="F3908B"/>
                </a:solidFill>
                <a:latin typeface="微软雅黑"/>
                <a:ea typeface="微软雅黑"/>
                <a:cs typeface="微软雅黑"/>
              </a:rPr>
              <a:t>同一个先验——旧任务的最强武器，恰是新任务的结构性禁令。</a:t>
            </a:r>
            <a:endParaRPr sz="16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7A3764-EBB0-4A9A-A18E-5BF0C98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863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同一根源，三族向相反方向失败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31F918-BCBD-4BC7-BFD3-7438EB15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2514600" cy="1170432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26336E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99AE280-6759-452A-AA5B-226970B9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10128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一致性 · 无边际约束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923D93C-CE38-4EA3-840D-335DD17A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639312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欠约束 → 坍缩到枢纽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6FFE64-29C3-4CE8-B6BB-151DA78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68496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maxSrc/Tgt = 3110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65C308F-C68F-4EEB-8F97-22521E0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200400"/>
            <a:ext cx="2514600" cy="1170432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26336E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1BB5536-FFEB-4DCC-ACE5-91E1A3C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310128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最优传输 · 硬边际约束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3B2BBD-EA5B-47BF-9A10-37C5650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639312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过约束 → 锁成置换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F8A2D3-8F8D-4D14-8D1F-9280225E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968496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colCoV = 0.00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DD117A-F3A5-4A6D-B39F-35E48EA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00400"/>
            <a:ext cx="2514600" cy="1170432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26336E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5702C59-3F9C-44A7-B455-21DF32E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310128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嵌入 · 差异性正则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E857806-B600-46C6-8E16-E12EDC8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639312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方向相反 → 推开共指节点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E58A9AA-3F8D-4649-830D-FDD267D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968496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近重复被刻意分开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2AA08AA-3C2C-4058-81BC-A67D9971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90288"/>
            <a:ext cx="7863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方向相反，根源相同：</a:t>
            </a:r>
            <a:r>
              <a:rPr sz="1350" b="1" i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学习对象错了——学的是“跨图节点耦合”，任务要的是“等价关系”。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88417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C32D3F-205F-42E3-8553-2FC35D41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由矛盾推出困难清单，一一给出解法</a:t>
            </a:r>
            <a:endParaRPr sz="2500"/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457200" y="914400"/>
          <a:ext xmlns:a="http://schemas.openxmlformats.org/drawingml/2006/main" cx="8229600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77440"/>
                <a:gridCol w="338328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困难（表面问题）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根源（同一矛盾）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解法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1F2A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图内共指无处表达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S∈R(n1×n2) 没有图内块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E7C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 S 行画像聚类，解码每图分组（已验证）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N-1 / 1-N 被禁止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OT 质量守恒边际约束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E7C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先分组，再在商图上 1-1 匹配；或组级 unbalanced OT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拉近组员的正则无效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瓶颈在读出，不在表示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E7C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不改编码器，改读出：分组发生在耦合空间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群组规模 k 未知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top-k 读出需要 oracle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E7C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阈值式解码，规模由聚类自然涌现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指标虚高 4.7×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适配器回灌真值分组与规模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E7C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盲评协议 m2m_blind：预测路径不见真值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监督只有 1-1 锚点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128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模型从未被告知分组任务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E7C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S-profile 自监督 + 锚点升级为组级监督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4DEF2"/>
                      </a:solidFill>
                      <a:prstDash val="solid"/>
                    </a:lnL>
                    <a:lnR w="9525" cmpd="sng">
                      <a:solidFill>
                        <a:srgbClr val="D4DEF2"/>
                      </a:solidFill>
                      <a:prstDash val="solid"/>
                    </a:lnR>
                    <a:lnT w="9525" cmpd="sng">
                      <a:solidFill>
                        <a:srgbClr val="D4DEF2"/>
                      </a:solidFill>
                      <a:prstDash val="solid"/>
                    </a:lnT>
                    <a:lnB w="9525" cmpd="sng">
                      <a:solidFill>
                        <a:srgbClr val="D4DEF2"/>
                      </a:solidFill>
                      <a:prstDash val="soli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4A23BA0-EAC1-403C-B507-9833EF9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6864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前 2 行解决“表达”，中间 2 行解决“读出”，后 2 行解决“训练与评测”。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589216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EAEA29-F6FE-4253-8B9D-6AD1CED5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正确的学习对象：等价关系（商图对齐）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39F0A3-6ADC-4A68-805B-04339C3B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4160520" cy="969264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BECEA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9FEF07-0F37-447A-A6D6-F81C927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05840"/>
            <a:ext cx="38404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错的对象　</a:t>
            </a:r>
            <a:r>
              <a:rPr sz="1150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跨图节点耦合 S∈R(n1×n2)：只回答“谁对谁”，回答不了“谁和谁是同一个”。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BBEC42D-7EFF-40A4-85C8-FCC5791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4160520" cy="1225296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8F4F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CE5D99-5BE5-45FB-9868-74B6202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03120"/>
            <a:ext cx="3840480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E7C66"/>
                </a:solidFill>
                <a:latin typeface="微软雅黑"/>
                <a:ea typeface="微软雅黑"/>
                <a:cs typeface="微软雅黑"/>
              </a:rPr>
              <a:t>对的对象　</a:t>
            </a:r>
            <a:r>
              <a:rPr sz="1150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每图一个划分 + 划分间的匹配：</a:t>
            </a:r>
            <a:endParaRPr sz="115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E7C66"/>
                </a:solidFill>
                <a:latin typeface="微软雅黑"/>
                <a:ea typeface="微软雅黑"/>
                <a:cs typeface="微软雅黑"/>
              </a:rPr>
              <a:t>M2M(G1,G2) ≡ 划分(G1) + 划分(G2) + 一一对齐(Q1,Q2)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19962E-BDF9-4EE8-8023-8192A2D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01568"/>
            <a:ext cx="3977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关键证据　</a:t>
            </a:r>
            <a:r>
              <a:rPr sz="11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分组信号已在 S 的行空间：组员行近共线（cos≈0.4），非组员近正交（≈0.0）。先解码、后匹配可行——JOENAGroupDecode 已验证。</a:t>
            </a:r>
            <a:endParaRPr sz="11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A64F34-F3D8-44E0-8B78-65845B45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315968"/>
            <a:ext cx="39776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优雅之处　</a:t>
            </a:r>
            <a:r>
              <a:rPr sz="115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对象一换，排他性先验在商图上重新变得正确——1-1 的全部机器可以复用。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ECE1C5-3C44-40E2-ACF5-3245FA0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914400"/>
            <a:ext cx="3794760" cy="1883664"/>
          </a:xfrm>
          <a:prstGeom xmlns:a="http://schemas.openxmlformats.org/drawingml/2006/main" prst="roundRect">
            <a:avLst>
              <a:gd name="adj" fmla="val 3398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5CA425-F71D-483C-BFBB-1483343E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005840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节点级：耦合无处安放“同一实体”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C294DB1-DDE3-486F-A786-4F70173B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9240" y="1600200"/>
            <a:ext cx="2770632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C4E4"/>
            </a:solidFill>
            <a:prstDash val="dash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759C434-4060-4CC6-8FEA-1B27555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1600200"/>
            <a:ext cx="2441448" cy="6675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C4E4"/>
            </a:solidFill>
            <a:prstDash val="dash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1A12E26-99B7-44DA-B5F6-E3DEF48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28216"/>
            <a:ext cx="2039112" cy="539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C4E4"/>
            </a:solidFill>
            <a:prstDash val="dash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8BCCF0D-BE84-4AD0-A328-D156B57E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0992" y="1600200"/>
            <a:ext cx="246888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C4E4"/>
            </a:solidFill>
            <a:prstDash val="dash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D4C981-9477-42C0-9C6E-04C78E8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17320"/>
            <a:ext cx="1325880" cy="566928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0392B"/>
            </a:solidFill>
            <a:prstDash val="dash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50C1549-D849-4FED-B06F-46365798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9240" y="1600200"/>
            <a:ext cx="420624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4A9A2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296D1FC-0502-4AE9-8DA8-A6B30A5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1600200"/>
            <a:ext cx="402336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4A9A2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82D43E5-0510-4B69-95A2-D1186064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7E1424-05CA-41D0-AE42-EAFBA62F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896440-EC3E-4471-95AD-30907AE4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60934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20F3EE-F13F-4AF1-9120-5FD6154B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128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94B6DCA-70A3-45FC-A8E9-6967520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600200"/>
            <a:ext cx="91440" cy="6675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FB3E2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F89D25F-1081-451F-BEE1-9A13E69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EA5744D-A484-4596-8749-F5D91FE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14884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A5C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124D35-3991-45AF-839F-B0608F1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450592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多条节点级连线互相竞争、彼此矛盾</a:t>
            </a:r>
            <a:endParaRPr sz="1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15B49BA-84C1-4D07-B70C-E9C1A6E3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980944"/>
            <a:ext cx="3794760" cy="1883664"/>
          </a:xfrm>
          <a:prstGeom xmlns:a="http://schemas.openxmlformats.org/drawingml/2006/main" prst="roundRect">
            <a:avLst>
              <a:gd name="adj" fmla="val 3398"/>
            </a:avLst>
          </a:prstGeom>
          <a:solidFill xmlns:a="http://schemas.openxmlformats.org/drawingml/2006/main">
            <a:srgbClr val="E8F4F0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A99CF48-73CD-4DA7-83B0-93CFAD5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072384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E7C66"/>
                </a:solidFill>
                <a:latin typeface="微软雅黑"/>
                <a:ea typeface="微软雅黑"/>
                <a:cs typeface="微软雅黑"/>
              </a:rPr>
              <a:t>组级（商图）：一一对齐重新成立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C399A9F-8A92-42E2-B81F-91FDDCA9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0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0079C99-8544-4F22-BF1D-C37CDF5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60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EF310E9-B905-4DEE-8659-47B5755B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520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B981DC4-43BA-4D7F-BA99-4A79AE1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160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D4E0CAB-E6DB-4144-8883-EC70875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703320"/>
            <a:ext cx="2395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E7C66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4A68F4-3A5B-458E-8101-AC5D115F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343400"/>
            <a:ext cx="2395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E7C66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B707B6E-9A21-4C31-B504-EC0C89E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55371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超节点 = 一个群组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21920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2B0A2D-D539-487C-A0A4-F7B8C5E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围绕机制设计训练目标：三步路线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D0847F5-1078-40C3-8049-0EF30D8D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26517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4F0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341704E-EF03-4114-8931-ED087F8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78992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E7C66"/>
                </a:solidFill>
                <a:latin typeface="微软雅黑"/>
                <a:ea typeface="微软雅黑"/>
                <a:cs typeface="微软雅黑"/>
              </a:rPr>
              <a:t>第一步 · 已验证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0EC62A-A13C-46FF-A2F7-075A51C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8988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解码式读出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B08F15-D055-4FBF-AEB1-6881494A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47088"/>
            <a:ext cx="23042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训练完全不动；读出改为 S-profile 聚类 + 组级匹配（JOENAGroupDecode）。盲评下即可用，是当前的工作基线。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C3BF1-36B4-40A2-8205-8B2B7CA1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1883664"/>
            <a:ext cx="3291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2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B5DE14-1787-4A5A-9BF4-2B16131F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932688"/>
            <a:ext cx="26517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7A2B1C-845D-4E9C-A4D7-4EAE7F3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78992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第二步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E195C-EFB2-4F23-B885-0192D8EC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8988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端到端 profile 对比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47EF1D-5BAD-4345-A6DB-F59438CA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47088"/>
            <a:ext cx="23042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把机制本身写成损失：拉近组员的 S 行、推开非组员的 S 行——对比发生在耦合行空间，而非嵌入空间（嵌入正则已证无效）。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926046-C1E6-42DD-8DA0-CFEE9BEA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883664"/>
            <a:ext cx="3291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2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08FD007-9C07-4E4D-94BF-0F61EDC9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932688"/>
            <a:ext cx="26517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EF2FA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46D6FB-B60E-4967-8459-95970C5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78992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2A5C"/>
                </a:solidFill>
                <a:latin typeface="微软雅黑"/>
                <a:ea typeface="微软雅黑"/>
                <a:cs typeface="微软雅黑"/>
              </a:rPr>
              <a:t>第三步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AE8846-84F5-438A-BACA-96036CB8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8988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12842"/>
                </a:solidFill>
                <a:latin typeface="微软雅黑"/>
                <a:ea typeface="微软雅黑"/>
                <a:cs typeface="微软雅黑"/>
              </a:rPr>
              <a:t>组级最优传输</a:t>
            </a:r>
            <a:endParaRPr sz="15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9B64053-2A77-4930-B941-BB3C4D1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47088"/>
            <a:ext cx="23042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unbalanced / partial OT：质量在“组”粒度守恒。边际约束从禁令变回工具，N-1 / 1-N 自然可行。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83AF266-39A3-43B9-B315-CE0AD717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2736"/>
            <a:ext cx="8229600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F2A5C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F0B0580-46CF-422D-B282-E2B2582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49040"/>
            <a:ext cx="777240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方法论　</a:t>
            </a:r>
            <a:r>
              <a:rPr sz="12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好创新 ≠ 堆复杂模块；= 观察异常 → 统一成一个机制 → 围绕机制设计目标。</a:t>
            </a:r>
            <a:endParaRPr sz="125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评测纪律　</a:t>
            </a:r>
            <a:r>
              <a:rPr sz="12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全程盲评（Macro Set-F1 / Micro Set-F1 / AUIS / AUCS），预测路径永不接触真值分组与规模。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63598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CC0648-265A-456D-BCE3-87FB5B6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结论：一个矛盾 · 一个机制 · 一个对象 · 一条路线</a:t>
            </a:r>
            <a:endParaRPr sz="25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9FF292-FFFD-46D0-A499-FBB1DFF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9264"/>
            <a:ext cx="39319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336E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0BA55E-1FE2-4DE0-BA9E-0BAA4B87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09728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一个矛盾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CC8145-F21C-4772-AEF2-F83FB1B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99616"/>
            <a:ext cx="3520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节点级排他性 vs 实体级等价类——一对一的胜因，恰是多对多的败因。</a:t>
            </a:r>
            <a:endParaRPr sz="12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A613A2F-369B-4B04-B8B6-9D26A5C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69264"/>
            <a:ext cx="39319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336E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0B6EF6-B7B7-4350-94B9-017FEAC7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109728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一个机制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96E3A8-38C3-44BE-A946-9B20CFE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1499616"/>
            <a:ext cx="3520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分组信号已在 S 的行空间；瓶颈在读出，不在表示。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772E8E9-7C5B-4D72-B49B-090D8E0B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39319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336E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C8537C-6779-48EE-B3E6-D3701020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24912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一个对象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FE0DB87-BFB7-48CE-BD4D-E4D5F0C5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27248"/>
            <a:ext cx="3520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等价关系 / 商图：M2M 归约为“分组 + 商图上的 1-1”。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FFCE925-1F90-4245-A9F8-9C91A66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96896"/>
            <a:ext cx="393192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6336E"/>
          </a:solidFill>
          <a:effectLst xmlns:a="http://schemas.openxmlformats.org/drawingml/2006/main"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0471FD6-28C6-4CDF-90BD-A21D3DC5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724912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C75E"/>
                </a:solidFill>
                <a:latin typeface="微软雅黑"/>
                <a:ea typeface="微软雅黑"/>
                <a:cs typeface="微软雅黑"/>
              </a:rPr>
              <a:t>一条路线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A0B87E7-D5CC-42D9-B480-C8B503D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3127248"/>
            <a:ext cx="3520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解码式（已验证）→ profile 对比 → 组级 OT；全程盲评。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8AC76D3-DA66-4252-800C-BEE6BC30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88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FA3D6"/>
                </a:solidFill>
                <a:latin typeface="微软雅黑"/>
                <a:ea typeface="微软雅黑"/>
                <a:cs typeface="微软雅黑"/>
              </a:rPr>
              <a:t>全部数字可复现：scripts/diagnose_m2m_failure.py · logs/m2m_diag/diagnose_m2m_failure.json · docs/m2m_why_one_to_one_fails.md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497836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2026-08-13T07:30:31.0860000Z</dcterms:created>
  <dcterms:modified xsi:type="dcterms:W3CDTF">2026-08-13T07:30:31.0860000Z</dcterms:modified>
</coreProperties>
</file>