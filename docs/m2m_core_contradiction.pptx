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开场：一对一方法在自家基准上很强，但同一批方法搬到多对多上集体失灵。本次汇报不罗列失败清单，而是把所有失败压缩成一个矛盾，并由此推出多对多应当学什么。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三个前提缺一不可：节点=实体、近同构、排他性有益。三族方法只是把同一个排他性先验写成不同数学形式：不动点、差异性正则、边际约束。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数据来自仓库 M2M 基准：Douban 895 实体中 442 个需要图内共指；argmax 读出天花板 0.821 是结构性上限，任何一对一读出（包括 oracle）都逃不掉。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关键方法论：不急着设计模块，先盯着模型哪里不正常。第 4、5 条最重要——嵌入不是瓶颈，S 的行空间早已携带分组信号，只是一对一读出说不出来。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一句话矛盾：排他性先验（1-1 的胜因）与等价类结构（M2M 的本质）不相容。三族的失败方向相反（坍缩/锁死/推开），说明问题不在某个模块，而在共享的学习对象。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每条困难都能追溯到同一个矛盾；解法也因此共享一个方向：把对象从节点耦合升到群组。绿色列是可执行动作，其中第 1、5 行在仓库中已实现并验证。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学习对象从“节点对”升级为“等价类”：图内先答“谁与谁同指”，图间在商图上答“组对组”。证据：S 行画像共线性把组员和非组员分得很开，这是模型自己给出的分组信号。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三步共享同一机制：S 行共线性。第一步已在仓库落地（m2m_decode.py），第二、三步把同一信号前移进训练目标。评测纪律单列，因为泄漏式适配器曾把分数抬高 4.7 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收束到四个一。落点：下一步工作不是发明新模块，而是把已验证的行共线机制前移进训练目标（profile 对比、组级 OT），并坚持盲评。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F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77240"/>
            <a:ext cx="78638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PlanetAlign · 多对多图对齐研究笔记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804672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一对一图对齐，为什么解不了多对多？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2212848"/>
            <a:ext cx="8046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 18 个方法的失败统一成 </a:t>
            </a:r>
            <a:r>
              <a:rPr lang="en-US" sz="1700" b="1" dirty="0">
                <a:solidFill>
                  <a:srgbClr val="F0C7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一个核心矛盾</a:t>
            </a:r>
            <a:r>
              <a:rPr lang="en-US" sz="17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，找回正确的“学习对象”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 flipV="1">
            <a:off x="1014984" y="3300984"/>
            <a:ext cx="640080" cy="320040"/>
          </a:xfrm>
          <a:prstGeom prst="line">
            <a:avLst/>
          </a:prstGeom>
          <a:noFill/>
          <a:ln w="19050">
            <a:solidFill>
              <a:srgbClr val="3A4A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4984" y="3621024"/>
            <a:ext cx="502920" cy="457200"/>
          </a:xfrm>
          <a:prstGeom prst="line">
            <a:avLst/>
          </a:prstGeom>
          <a:noFill/>
          <a:ln w="19050">
            <a:solidFill>
              <a:srgbClr val="3A4A8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55064" y="3300984"/>
            <a:ext cx="594360" cy="502920"/>
          </a:xfrm>
          <a:prstGeom prst="line">
            <a:avLst/>
          </a:prstGeom>
          <a:noFill/>
          <a:ln w="19050">
            <a:solidFill>
              <a:srgbClr val="3A4A8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517904" y="3803904"/>
            <a:ext cx="731520" cy="274320"/>
          </a:xfrm>
          <a:prstGeom prst="line">
            <a:avLst/>
          </a:prstGeom>
          <a:noFill/>
          <a:ln w="19050">
            <a:solidFill>
              <a:srgbClr val="3A4A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520440"/>
            <a:ext cx="201168" cy="201168"/>
          </a:xfrm>
          <a:prstGeom prst="ellipse">
            <a:avLst/>
          </a:prstGeom>
          <a:solidFill>
            <a:srgbClr val="CADCFC"/>
          </a:solidFill>
        </p:spPr>
      </p:sp>
      <p:sp>
        <p:nvSpPr>
          <p:cNvPr id="10" name="Shape 8"/>
          <p:cNvSpPr/>
          <p:nvPr/>
        </p:nvSpPr>
        <p:spPr>
          <a:xfrm>
            <a:off x="1554480" y="3200400"/>
            <a:ext cx="201168" cy="201168"/>
          </a:xfrm>
          <a:prstGeom prst="ellipse">
            <a:avLst/>
          </a:prstGeom>
          <a:solidFill>
            <a:srgbClr val="CADCFC"/>
          </a:solidFill>
        </p:spPr>
      </p:sp>
      <p:sp>
        <p:nvSpPr>
          <p:cNvPr id="11" name="Shape 9"/>
          <p:cNvSpPr/>
          <p:nvPr/>
        </p:nvSpPr>
        <p:spPr>
          <a:xfrm>
            <a:off x="1417320" y="3977640"/>
            <a:ext cx="201168" cy="201168"/>
          </a:xfrm>
          <a:prstGeom prst="ellipse">
            <a:avLst/>
          </a:prstGeom>
          <a:solidFill>
            <a:srgbClr val="CADCFC"/>
          </a:solidFill>
        </p:spPr>
      </p:sp>
      <p:sp>
        <p:nvSpPr>
          <p:cNvPr id="12" name="Shape 10"/>
          <p:cNvSpPr/>
          <p:nvPr/>
        </p:nvSpPr>
        <p:spPr>
          <a:xfrm>
            <a:off x="2148840" y="3703320"/>
            <a:ext cx="201168" cy="201168"/>
          </a:xfrm>
          <a:prstGeom prst="ellipse">
            <a:avLst/>
          </a:prstGeom>
          <a:solidFill>
            <a:srgbClr val="CADCFC"/>
          </a:solidFill>
        </p:spPr>
      </p:sp>
      <p:sp>
        <p:nvSpPr>
          <p:cNvPr id="13" name="Shape 11"/>
          <p:cNvSpPr/>
          <p:nvPr/>
        </p:nvSpPr>
        <p:spPr>
          <a:xfrm>
            <a:off x="5989320" y="3063240"/>
            <a:ext cx="1737360" cy="1051560"/>
          </a:xfrm>
          <a:prstGeom prst="roundRect">
            <a:avLst>
              <a:gd name="adj" fmla="val 24348"/>
            </a:avLst>
          </a:prstGeom>
          <a:solidFill>
            <a:srgbClr val="26336E"/>
          </a:solidFill>
          <a:ln w="19050">
            <a:solidFill>
              <a:srgbClr val="F0C75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 flipV="1">
            <a:off x="6318504" y="3300984"/>
            <a:ext cx="594360" cy="91440"/>
          </a:xfrm>
          <a:prstGeom prst="line">
            <a:avLst/>
          </a:prstGeom>
          <a:noFill/>
          <a:ln w="19050">
            <a:solidFill>
              <a:srgbClr val="3A4A8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18504" y="3392424"/>
            <a:ext cx="320040" cy="411480"/>
          </a:xfrm>
          <a:prstGeom prst="line">
            <a:avLst/>
          </a:prstGeom>
          <a:noFill/>
          <a:ln w="19050">
            <a:solidFill>
              <a:srgbClr val="3A4A8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6638544" y="3300984"/>
            <a:ext cx="274320" cy="502920"/>
          </a:xfrm>
          <a:prstGeom prst="line">
            <a:avLst/>
          </a:prstGeom>
          <a:noFill/>
          <a:ln w="19050">
            <a:solidFill>
              <a:srgbClr val="3A4A8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12864" y="3300984"/>
            <a:ext cx="1143000" cy="365760"/>
          </a:xfrm>
          <a:prstGeom prst="line">
            <a:avLst/>
          </a:prstGeom>
          <a:noFill/>
          <a:ln w="19050">
            <a:solidFill>
              <a:srgbClr val="3A4A8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17920" y="3291840"/>
            <a:ext cx="201168" cy="201168"/>
          </a:xfrm>
          <a:prstGeom prst="ellipse">
            <a:avLst/>
          </a:prstGeom>
          <a:solidFill>
            <a:srgbClr val="F0C75E"/>
          </a:solidFill>
        </p:spPr>
      </p:sp>
      <p:sp>
        <p:nvSpPr>
          <p:cNvPr id="19" name="Shape 17"/>
          <p:cNvSpPr/>
          <p:nvPr/>
        </p:nvSpPr>
        <p:spPr>
          <a:xfrm>
            <a:off x="6812280" y="3200400"/>
            <a:ext cx="201168" cy="201168"/>
          </a:xfrm>
          <a:prstGeom prst="ellipse">
            <a:avLst/>
          </a:prstGeom>
          <a:solidFill>
            <a:srgbClr val="F0C75E"/>
          </a:solidFill>
        </p:spPr>
      </p:sp>
      <p:sp>
        <p:nvSpPr>
          <p:cNvPr id="20" name="Shape 18"/>
          <p:cNvSpPr/>
          <p:nvPr/>
        </p:nvSpPr>
        <p:spPr>
          <a:xfrm>
            <a:off x="6537960" y="3703320"/>
            <a:ext cx="201168" cy="201168"/>
          </a:xfrm>
          <a:prstGeom prst="ellipse">
            <a:avLst/>
          </a:prstGeom>
          <a:solidFill>
            <a:srgbClr val="F0C75E"/>
          </a:solidFill>
        </p:spPr>
      </p:sp>
      <p:sp>
        <p:nvSpPr>
          <p:cNvPr id="21" name="Shape 19"/>
          <p:cNvSpPr/>
          <p:nvPr/>
        </p:nvSpPr>
        <p:spPr>
          <a:xfrm>
            <a:off x="7955280" y="3566160"/>
            <a:ext cx="201168" cy="201168"/>
          </a:xfrm>
          <a:prstGeom prst="ellipse">
            <a:avLst/>
          </a:prstGeom>
          <a:solidFill>
            <a:srgbClr val="CADCFC"/>
          </a:solidFill>
        </p:spPr>
      </p:sp>
      <p:sp>
        <p:nvSpPr>
          <p:cNvPr id="22" name="Shape 20"/>
          <p:cNvSpPr/>
          <p:nvPr/>
        </p:nvSpPr>
        <p:spPr>
          <a:xfrm>
            <a:off x="2377440" y="3383280"/>
            <a:ext cx="3566160" cy="137160"/>
          </a:xfrm>
          <a:prstGeom prst="line">
            <a:avLst/>
          </a:prstGeom>
          <a:noFill/>
          <a:ln w="15240">
            <a:solidFill>
              <a:srgbClr val="F0C75E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2377440" y="3840480"/>
            <a:ext cx="3566160" cy="228600"/>
          </a:xfrm>
          <a:prstGeom prst="line">
            <a:avLst/>
          </a:prstGeom>
          <a:noFill/>
          <a:ln w="15240">
            <a:solidFill>
              <a:srgbClr val="F0C75E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777240" y="4315968"/>
            <a:ext cx="17373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个节点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989320" y="4315968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0C7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↔  同一实体的一组节点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0080" y="4736592"/>
            <a:ext cx="78638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FA3D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实证：Douban / Cora M2M 基准 · 复现：scripts/diagnose_m2m_failure.py · 2026-07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F2A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一对一方法为什么成功：三个隐含前提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2624328" cy="1481328"/>
          </a:xfrm>
          <a:prstGeom prst="roundRect">
            <a:avLst>
              <a:gd name="adj" fmla="val 4321"/>
            </a:avLst>
          </a:prstGeom>
          <a:solidFill>
            <a:srgbClr val="EEF2FA"/>
          </a:solidFill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621792" y="1078992"/>
            <a:ext cx="347472" cy="347472"/>
          </a:xfrm>
          <a:prstGeom prst="ellipse">
            <a:avLst/>
          </a:prstGeom>
          <a:solidFill>
            <a:srgbClr val="1F2A5C"/>
          </a:solidFill>
        </p:spPr>
      </p:sp>
      <p:sp>
        <p:nvSpPr>
          <p:cNvPr id="5" name="Text 3"/>
          <p:cNvSpPr/>
          <p:nvPr/>
        </p:nvSpPr>
        <p:spPr>
          <a:xfrm>
            <a:off x="621792" y="1068019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60704" y="1042416"/>
            <a:ext cx="19202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128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节点即实体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640080" y="1536192"/>
            <a:ext cx="2286000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47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身份的最小单位是节点；每个节点在对面图恰有一个正确伙伴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64408" y="914400"/>
            <a:ext cx="2624328" cy="1481328"/>
          </a:xfrm>
          <a:prstGeom prst="roundRect">
            <a:avLst>
              <a:gd name="adj" fmla="val 4321"/>
            </a:avLst>
          </a:prstGeom>
          <a:solidFill>
            <a:srgbClr val="EEF2FA"/>
          </a:solidFill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429000" y="1078992"/>
            <a:ext cx="347472" cy="347472"/>
          </a:xfrm>
          <a:prstGeom prst="ellipse">
            <a:avLst/>
          </a:prstGeom>
          <a:solidFill>
            <a:srgbClr val="1F2A5C"/>
          </a:solidFill>
        </p:spPr>
      </p:sp>
      <p:sp>
        <p:nvSpPr>
          <p:cNvPr id="10" name="Text 8"/>
          <p:cNvSpPr/>
          <p:nvPr/>
        </p:nvSpPr>
        <p:spPr>
          <a:xfrm>
            <a:off x="3429000" y="1068019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867912" y="1042416"/>
            <a:ext cx="19202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128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两图近似同构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447288" y="1536192"/>
            <a:ext cx="2286000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47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互为置换扰动；节点的邻域结构跨图保持，度分布对应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71616" y="914400"/>
            <a:ext cx="2624328" cy="1481328"/>
          </a:xfrm>
          <a:prstGeom prst="roundRect">
            <a:avLst>
              <a:gd name="adj" fmla="val 4321"/>
            </a:avLst>
          </a:prstGeom>
          <a:solidFill>
            <a:srgbClr val="EEF2FA"/>
          </a:solidFill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36208" y="1078992"/>
            <a:ext cx="347472" cy="347472"/>
          </a:xfrm>
          <a:prstGeom prst="ellipse">
            <a:avLst/>
          </a:prstGeom>
          <a:solidFill>
            <a:srgbClr val="1F2A5C"/>
          </a:solidFill>
        </p:spPr>
      </p:sp>
      <p:sp>
        <p:nvSpPr>
          <p:cNvPr id="15" name="Text 13"/>
          <p:cNvSpPr/>
          <p:nvPr/>
        </p:nvSpPr>
        <p:spPr>
          <a:xfrm>
            <a:off x="6236208" y="1068019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1042416"/>
            <a:ext cx="19202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128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排他性先验有效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254496" y="1536192"/>
            <a:ext cx="2286000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47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让候选相互竞争、赢者通吃——唯一性是有益的归纳偏置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2615184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A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三族方法，把“排他性”分别写进目标函数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017520"/>
            <a:ext cx="2624328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 w="12700">
            <a:solidFill>
              <a:srgbClr val="D4DE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" y="3127248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2A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一致性 · IsoRank / FINAL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21792" y="3474720"/>
            <a:ext cx="233172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47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对齐一致性不动点：邻居的邻居也对齐，解在近置换处稳定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64408" y="3017520"/>
            <a:ext cx="2624328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 w="12700">
            <a:solidFill>
              <a:srgbClr val="D4DE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29000" y="3127248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2A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嵌入 · REGAL / BRIGHT / NeXtAlign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3429000" y="3474720"/>
            <a:ext cx="233172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47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一节点一向量 + 最近邻读出；差异性正则刻意推开近似重复节点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071616" y="3017520"/>
            <a:ext cx="2624328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 w="12700">
            <a:solidFill>
              <a:srgbClr val="D4DE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36208" y="3127248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2A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最优传输 · PARROT / JOENA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236208" y="3474720"/>
            <a:ext cx="233172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47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质量守恒 S∈Π(μ1,μ2)：每个节点的质量恰好 1/n，不能多也不能少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57200" y="4443984"/>
            <a:ext cx="82296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A647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在这些前提下：</a:t>
            </a:r>
            <a:r>
              <a:rPr lang="en-US" sz="1350" b="1" i="1" dirty="0">
                <a:solidFill>
                  <a:srgbClr val="1F2A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“节点匹配” ≡ “实体解析”</a:t>
            </a:r>
            <a:r>
              <a:rPr lang="en-US" sz="1350" i="1" dirty="0">
                <a:solidFill>
                  <a:srgbClr val="5A647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，一张 S∈R(n1×n2) 就是答案的完整表示。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F2A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前提在真实多对多中崩塌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2743200" cy="2999232"/>
          </a:xfrm>
          <a:prstGeom prst="roundRect">
            <a:avLst>
              <a:gd name="adj" fmla="val 2333"/>
            </a:avLst>
          </a:prstGeom>
          <a:solidFill>
            <a:srgbClr val="EEF2FA"/>
          </a:solidFill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21792" y="1024128"/>
            <a:ext cx="24688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28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M2M 基准的生成方式：节点拆分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481328" y="1481328"/>
            <a:ext cx="402336" cy="402336"/>
          </a:xfrm>
          <a:prstGeom prst="ellipse">
            <a:avLst/>
          </a:prstGeom>
          <a:solidFill>
            <a:srgbClr val="1F2A5C"/>
          </a:solidFill>
        </p:spPr>
      </p:sp>
      <p:sp>
        <p:nvSpPr>
          <p:cNvPr id="6" name="Text 4"/>
          <p:cNvSpPr/>
          <p:nvPr/>
        </p:nvSpPr>
        <p:spPr>
          <a:xfrm>
            <a:off x="1956816" y="153619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647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原节点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682496" y="1956816"/>
            <a:ext cx="0" cy="310896"/>
          </a:xfrm>
          <a:prstGeom prst="line">
            <a:avLst/>
          </a:prstGeom>
          <a:noFill/>
          <a:ln w="19050">
            <a:solidFill>
              <a:srgbClr val="5A647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86384" y="2340864"/>
            <a:ext cx="2084832" cy="9144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 flipV="1">
            <a:off x="1124712" y="2624328"/>
            <a:ext cx="704088" cy="146304"/>
          </a:xfrm>
          <a:prstGeom prst="line">
            <a:avLst/>
          </a:prstGeom>
          <a:noFill/>
          <a:ln w="17780">
            <a:solidFill>
              <a:srgbClr val="E4A9A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0" y="2624328"/>
            <a:ext cx="667512" cy="182880"/>
          </a:xfrm>
          <a:prstGeom prst="line">
            <a:avLst/>
          </a:prstGeom>
          <a:noFill/>
          <a:ln w="17780">
            <a:solidFill>
              <a:srgbClr val="E4A9A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2615184"/>
            <a:ext cx="310896" cy="310896"/>
          </a:xfrm>
          <a:prstGeom prst="ellipse">
            <a:avLst/>
          </a:prstGeom>
          <a:solidFill>
            <a:srgbClr val="C0392B"/>
          </a:solidFill>
        </p:spPr>
      </p:sp>
      <p:sp>
        <p:nvSpPr>
          <p:cNvPr id="12" name="Shape 10"/>
          <p:cNvSpPr/>
          <p:nvPr/>
        </p:nvSpPr>
        <p:spPr>
          <a:xfrm>
            <a:off x="1673352" y="2468880"/>
            <a:ext cx="310896" cy="310896"/>
          </a:xfrm>
          <a:prstGeom prst="ellipse">
            <a:avLst/>
          </a:prstGeom>
          <a:solidFill>
            <a:srgbClr val="C0392B"/>
          </a:solidFill>
        </p:spPr>
      </p:sp>
      <p:sp>
        <p:nvSpPr>
          <p:cNvPr id="13" name="Shape 11"/>
          <p:cNvSpPr/>
          <p:nvPr/>
        </p:nvSpPr>
        <p:spPr>
          <a:xfrm>
            <a:off x="2340864" y="2651760"/>
            <a:ext cx="310896" cy="310896"/>
          </a:xfrm>
          <a:prstGeom prst="ellipse">
            <a:avLst/>
          </a:prstGeom>
          <a:solidFill>
            <a:srgbClr val="C0392B"/>
          </a:solidFill>
        </p:spPr>
      </p:sp>
      <p:sp>
        <p:nvSpPr>
          <p:cNvPr id="14" name="Text 12"/>
          <p:cNvSpPr/>
          <p:nvPr/>
        </p:nvSpPr>
        <p:spPr>
          <a:xfrm>
            <a:off x="621792" y="3346704"/>
            <a:ext cx="243230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647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同一实体的 k 个节点：每个只保留约 1/k 的原有邻居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401568" y="914400"/>
            <a:ext cx="2615184" cy="1426464"/>
          </a:xfrm>
          <a:prstGeom prst="roundRect">
            <a:avLst>
              <a:gd name="adj" fmla="val 4487"/>
            </a:avLst>
          </a:prstGeom>
          <a:solidFill>
            <a:srgbClr val="FFFFFF"/>
          </a:solidFill>
          <a:ln w="12700">
            <a:solidFill>
              <a:srgbClr val="D4DE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66160" y="987552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49%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3566160" y="1481328"/>
            <a:ext cx="230428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647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Douban 实体需要图内共指（442 / 895）——“同图两节点是同一人”在 S 中无处表达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99632" y="914400"/>
            <a:ext cx="2615184" cy="1426464"/>
          </a:xfrm>
          <a:prstGeom prst="roundRect">
            <a:avLst>
              <a:gd name="adj" fmla="val 4487"/>
            </a:avLst>
          </a:prstGeom>
          <a:solidFill>
            <a:srgbClr val="FFFFFF"/>
          </a:solidFill>
          <a:ln w="12700">
            <a:solidFill>
              <a:srgbClr val="D4DE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64224" y="987552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0.821</a:t>
            </a:r>
            <a:endParaRPr lang="en-US" sz="2300" dirty="0"/>
          </a:p>
        </p:txBody>
      </p:sp>
      <p:sp>
        <p:nvSpPr>
          <p:cNvPr id="20" name="Text 18"/>
          <p:cNvSpPr/>
          <p:nvPr/>
        </p:nvSpPr>
        <p:spPr>
          <a:xfrm>
            <a:off x="6364224" y="1481328"/>
            <a:ext cx="230428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647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argmax 读出的召回天花板：与方法无关，oracle 也被封顶（Cora 0.837）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401568" y="2487168"/>
            <a:ext cx="2615184" cy="1426464"/>
          </a:xfrm>
          <a:prstGeom prst="roundRect">
            <a:avLst>
              <a:gd name="adj" fmla="val 4487"/>
            </a:avLst>
          </a:prstGeom>
          <a:solidFill>
            <a:srgbClr val="FFFFFF"/>
          </a:solidFill>
          <a:ln w="12700">
            <a:solidFill>
              <a:srgbClr val="D4DE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66160" y="256032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2A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203 个 N-1</a:t>
            </a:r>
            <a:endParaRPr lang="en-US" sz="2300" dirty="0"/>
          </a:p>
        </p:txBody>
      </p:sp>
      <p:sp>
        <p:nvSpPr>
          <p:cNvPr id="23" name="Text 21"/>
          <p:cNvSpPr/>
          <p:nvPr/>
        </p:nvSpPr>
        <p:spPr>
          <a:xfrm>
            <a:off x="3566160" y="3054096"/>
            <a:ext cx="230428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647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Douban 两侧规模 4265 vs 1460，多对一密集——恰是排他性禁止的形态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99632" y="2487168"/>
            <a:ext cx="2615184" cy="1426464"/>
          </a:xfrm>
          <a:prstGeom prst="roundRect">
            <a:avLst>
              <a:gd name="adj" fmla="val 4487"/>
            </a:avLst>
          </a:prstGeom>
          <a:solidFill>
            <a:srgbClr val="FFFFFF"/>
          </a:solidFill>
          <a:ln w="12700">
            <a:solidFill>
              <a:srgbClr val="D4DEF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64224" y="256032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2A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30%</a:t>
            </a:r>
            <a:endParaRPr lang="en-US" sz="2300" dirty="0"/>
          </a:p>
        </p:txBody>
      </p:sp>
      <p:sp>
        <p:nvSpPr>
          <p:cNvPr id="26" name="Text 24"/>
          <p:cNvSpPr/>
          <p:nvPr/>
        </p:nvSpPr>
        <p:spPr>
          <a:xfrm>
            <a:off x="6364224" y="3054096"/>
            <a:ext cx="230428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647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Cora 亦然：651 / 2167 实体需图内共指——跨数据集皆常态，并非 Douban 特例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4114800"/>
            <a:ext cx="2624328" cy="786384"/>
          </a:xfrm>
          <a:prstGeom prst="roundRect">
            <a:avLst>
              <a:gd name="adj" fmla="val 8140"/>
            </a:avLst>
          </a:prstGeom>
          <a:solidFill>
            <a:srgbClr val="FBECEA"/>
          </a:solidFill>
        </p:spPr>
      </p:sp>
      <p:sp>
        <p:nvSpPr>
          <p:cNvPr id="28" name="Text 26"/>
          <p:cNvSpPr/>
          <p:nvPr/>
        </p:nvSpPr>
        <p:spPr>
          <a:xfrm>
            <a:off x="603504" y="4187952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P1 崩塌　</a:t>
            </a:r>
            <a:r>
              <a:rPr lang="en-US" sz="1100" dirty="0">
                <a:solidFill>
                  <a:srgbClr val="2128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节点 ≠ 实体：身份单位变成“节点群组”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264408" y="4114800"/>
            <a:ext cx="2624328" cy="786384"/>
          </a:xfrm>
          <a:prstGeom prst="roundRect">
            <a:avLst>
              <a:gd name="adj" fmla="val 8140"/>
            </a:avLst>
          </a:prstGeom>
          <a:solidFill>
            <a:srgbClr val="FBECEA"/>
          </a:solidFill>
        </p:spPr>
      </p:sp>
      <p:sp>
        <p:nvSpPr>
          <p:cNvPr id="30" name="Text 28"/>
          <p:cNvSpPr/>
          <p:nvPr/>
        </p:nvSpPr>
        <p:spPr>
          <a:xfrm>
            <a:off x="3410712" y="4187952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P2 崩塌　</a:t>
            </a:r>
            <a:r>
              <a:rPr lang="en-US" sz="1100" dirty="0">
                <a:solidFill>
                  <a:srgbClr val="2128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度被拆散成 1/k：近同构假设不再成立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071616" y="4114800"/>
            <a:ext cx="2624328" cy="786384"/>
          </a:xfrm>
          <a:prstGeom prst="roundRect">
            <a:avLst>
              <a:gd name="adj" fmla="val 8140"/>
            </a:avLst>
          </a:prstGeom>
          <a:solidFill>
            <a:srgbClr val="FBECEA"/>
          </a:solidFill>
        </p:spPr>
      </p:sp>
      <p:sp>
        <p:nvSpPr>
          <p:cNvPr id="32" name="Text 30"/>
          <p:cNvSpPr/>
          <p:nvPr/>
        </p:nvSpPr>
        <p:spPr>
          <a:xfrm>
            <a:off x="6217920" y="4187952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P3 崩塌　</a:t>
            </a:r>
            <a:r>
              <a:rPr lang="en-US" sz="1100" dirty="0">
                <a:solidFill>
                  <a:srgbClr val="2128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排他性从最强助力，变成结构性禁令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F2A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观察异常：模型哪里“不正常”？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987552"/>
            <a:ext cx="347472" cy="347472"/>
          </a:xfrm>
          <a:prstGeom prst="ellipse">
            <a:avLst/>
          </a:prstGeom>
          <a:solidFill>
            <a:srgbClr val="C0392B"/>
          </a:solidFill>
        </p:spPr>
      </p:sp>
      <p:sp>
        <p:nvSpPr>
          <p:cNvPr id="4" name="Text 2"/>
          <p:cNvSpPr/>
          <p:nvPr/>
        </p:nvSpPr>
        <p:spPr>
          <a:xfrm>
            <a:off x="457200" y="976579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32688" y="914400"/>
            <a:ext cx="5577840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128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枢纽坍缩　</a:t>
            </a:r>
            <a:r>
              <a:rPr lang="en-US" sz="1200" dirty="0">
                <a:solidFill>
                  <a:srgbClr val="5A647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IsoRank 把海量源节点的 argmax 指向同一个目标节点；Hits@1 = 0.031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675120" y="877824"/>
            <a:ext cx="201168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3110 → 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675120" y="126187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A647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个源节点 · 同一目标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932688" y="1591056"/>
            <a:ext cx="7754112" cy="0"/>
          </a:xfrm>
          <a:prstGeom prst="line">
            <a:avLst/>
          </a:prstGeom>
          <a:noFill/>
          <a:ln w="9525">
            <a:solidFill>
              <a:srgbClr val="E5EA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737360"/>
            <a:ext cx="347472" cy="347472"/>
          </a:xfrm>
          <a:prstGeom prst="ellipse">
            <a:avLst/>
          </a:prstGeom>
          <a:solidFill>
            <a:srgbClr val="C0392B"/>
          </a:solidFill>
        </p:spPr>
      </p:sp>
      <p:sp>
        <p:nvSpPr>
          <p:cNvPr id="10" name="Text 8"/>
          <p:cNvSpPr/>
          <p:nvPr/>
        </p:nvSpPr>
        <p:spPr>
          <a:xfrm>
            <a:off x="457200" y="1726387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32688" y="1664208"/>
            <a:ext cx="5577840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128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完美均匀　</a:t>
            </a:r>
            <a:r>
              <a:rPr lang="en-US" sz="1200" dirty="0">
                <a:solidFill>
                  <a:srgbClr val="5A647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JOENA 的列边际严格均匀——耦合被质量守恒锁成“软置换”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675120" y="1627632"/>
            <a:ext cx="201168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CoV = 0.00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675120" y="201168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A647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列边际变异系数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932688" y="2340864"/>
            <a:ext cx="7754112" cy="0"/>
          </a:xfrm>
          <a:prstGeom prst="line">
            <a:avLst/>
          </a:prstGeom>
          <a:noFill/>
          <a:ln w="9525">
            <a:solidFill>
              <a:srgbClr val="E5EA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487168"/>
            <a:ext cx="347472" cy="347472"/>
          </a:xfrm>
          <a:prstGeom prst="ellipse">
            <a:avLst/>
          </a:prstGeom>
          <a:solidFill>
            <a:srgbClr val="C0392B"/>
          </a:solidFill>
        </p:spPr>
      </p:sp>
      <p:sp>
        <p:nvSpPr>
          <p:cNvPr id="16" name="Text 14"/>
          <p:cNvSpPr/>
          <p:nvPr/>
        </p:nvSpPr>
        <p:spPr>
          <a:xfrm>
            <a:off x="457200" y="2476195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32688" y="2414016"/>
            <a:ext cx="5577840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128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分数来自泄漏　</a:t>
            </a:r>
            <a:r>
              <a:rPr lang="en-US" sz="1200" dirty="0">
                <a:solidFill>
                  <a:srgbClr val="5A647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同一个 S：泄漏式适配器 0.429，盲评只剩 0.091（PARROT, MicroF1）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675120" y="2377440"/>
            <a:ext cx="201168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4.7×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675120" y="276148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A647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指标虚高倍数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32688" y="3090672"/>
            <a:ext cx="7754112" cy="0"/>
          </a:xfrm>
          <a:prstGeom prst="line">
            <a:avLst/>
          </a:prstGeom>
          <a:noFill/>
          <a:ln w="9525">
            <a:solidFill>
              <a:srgbClr val="E5EA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236976"/>
            <a:ext cx="347472" cy="347472"/>
          </a:xfrm>
          <a:prstGeom prst="ellipse">
            <a:avLst/>
          </a:prstGeom>
          <a:solidFill>
            <a:srgbClr val="1F2A5C"/>
          </a:solidFill>
        </p:spPr>
      </p:sp>
      <p:sp>
        <p:nvSpPr>
          <p:cNvPr id="22" name="Text 20"/>
          <p:cNvSpPr/>
          <p:nvPr/>
        </p:nvSpPr>
        <p:spPr>
          <a:xfrm>
            <a:off x="457200" y="3226003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32688" y="3163824"/>
            <a:ext cx="5577840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128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正则无效　</a:t>
            </a:r>
            <a:r>
              <a:rPr lang="en-US" sz="1200" dirty="0">
                <a:solidFill>
                  <a:srgbClr val="5A647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给 JOENA 加“组内聚”嵌入正则是 no-op——嵌入早已把组员拉近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675120" y="3127248"/>
            <a:ext cx="201168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F2A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Δ ≈ 0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675120" y="3511296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A647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加正则后的提升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932688" y="3840480"/>
            <a:ext cx="7754112" cy="0"/>
          </a:xfrm>
          <a:prstGeom prst="line">
            <a:avLst/>
          </a:prstGeom>
          <a:noFill/>
          <a:ln w="9525">
            <a:solidFill>
              <a:srgbClr val="E5EA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3986784"/>
            <a:ext cx="347472" cy="347472"/>
          </a:xfrm>
          <a:prstGeom prst="ellipse">
            <a:avLst/>
          </a:prstGeom>
          <a:solidFill>
            <a:srgbClr val="0E7C66"/>
          </a:solidFill>
        </p:spPr>
      </p:sp>
      <p:sp>
        <p:nvSpPr>
          <p:cNvPr id="28" name="Text 26"/>
          <p:cNvSpPr/>
          <p:nvPr/>
        </p:nvSpPr>
        <p:spPr>
          <a:xfrm>
            <a:off x="457200" y="3975811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32688" y="3913632"/>
            <a:ext cx="5577840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128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 早已知道答案　</a:t>
            </a:r>
            <a:r>
              <a:rPr lang="en-US" sz="1200" dirty="0">
                <a:solidFill>
                  <a:srgbClr val="5A647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组员的 S 行画像近共线、非组员近正交（属性相同且相邻也分得开）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675120" y="3877056"/>
            <a:ext cx="201168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0E7C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0.4 vs 0.0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6675120" y="4261104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A647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行画像余弦：组内 / 组外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" y="4736592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i="1" dirty="0">
                <a:solidFill>
                  <a:srgbClr val="1F2A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五个表面异常，指向同一个底层机制 →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F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统一：一个核心矛盾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40080" y="896112"/>
            <a:ext cx="7863840" cy="1737360"/>
          </a:xfrm>
          <a:prstGeom prst="roundRect">
            <a:avLst>
              <a:gd name="adj" fmla="val 4737"/>
            </a:avLst>
          </a:prstGeom>
          <a:solidFill>
            <a:srgbClr val="26336E"/>
          </a:solidFill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042416"/>
            <a:ext cx="7315200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65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一对一方法赢在 </a:t>
            </a:r>
            <a:r>
              <a:rPr lang="en-US" sz="1650" b="1" dirty="0">
                <a:solidFill>
                  <a:srgbClr val="F0C7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节点级排他性</a:t>
            </a:r>
            <a:r>
              <a:rPr lang="en-US" sz="165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：每个节点恰有一个伙伴；</a:t>
            </a:r>
            <a:endParaRPr lang="en-US" sz="16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65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多对多的本质是 </a:t>
            </a:r>
            <a:r>
              <a:rPr lang="en-US" sz="1650" b="1" dirty="0">
                <a:solidFill>
                  <a:srgbClr val="F0C7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实体级等价类</a:t>
            </a:r>
            <a:r>
              <a:rPr lang="en-US" sz="165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：多个节点共享同一个身份。</a:t>
            </a:r>
            <a:endParaRPr lang="en-US" sz="16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650" b="1" dirty="0">
                <a:solidFill>
                  <a:srgbClr val="F390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同一个先验——旧任务的最强武器，恰是新任务的结构性禁令。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40080" y="2798064"/>
            <a:ext cx="786384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同一根源，三族向相反方向失败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3200400"/>
            <a:ext cx="2514600" cy="1170432"/>
          </a:xfrm>
          <a:prstGeom prst="roundRect">
            <a:avLst>
              <a:gd name="adj" fmla="val 5469"/>
            </a:avLst>
          </a:prstGeom>
          <a:solidFill>
            <a:srgbClr val="26336E"/>
          </a:solidFill>
        </p:spPr>
      </p:sp>
      <p:sp>
        <p:nvSpPr>
          <p:cNvPr id="7" name="Text 5"/>
          <p:cNvSpPr/>
          <p:nvPr/>
        </p:nvSpPr>
        <p:spPr>
          <a:xfrm>
            <a:off x="786384" y="3310128"/>
            <a:ext cx="224028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一致性 · 无边际约束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86384" y="3639312"/>
            <a:ext cx="224028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欠约束 → 坍缩到枢纽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86384" y="3968496"/>
            <a:ext cx="224028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0C7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maxSrc/Tgt = 3110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337560" y="3200400"/>
            <a:ext cx="2514600" cy="1170432"/>
          </a:xfrm>
          <a:prstGeom prst="roundRect">
            <a:avLst>
              <a:gd name="adj" fmla="val 5469"/>
            </a:avLst>
          </a:prstGeom>
          <a:solidFill>
            <a:srgbClr val="26336E"/>
          </a:solidFill>
        </p:spPr>
      </p:sp>
      <p:sp>
        <p:nvSpPr>
          <p:cNvPr id="11" name="Text 9"/>
          <p:cNvSpPr/>
          <p:nvPr/>
        </p:nvSpPr>
        <p:spPr>
          <a:xfrm>
            <a:off x="3483864" y="3310128"/>
            <a:ext cx="224028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最优传输 · 硬边际约束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483864" y="3639312"/>
            <a:ext cx="224028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过约束 → 锁成置换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483864" y="3968496"/>
            <a:ext cx="224028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0C7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colCoV = 0.00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035040" y="3200400"/>
            <a:ext cx="2514600" cy="1170432"/>
          </a:xfrm>
          <a:prstGeom prst="roundRect">
            <a:avLst>
              <a:gd name="adj" fmla="val 5469"/>
            </a:avLst>
          </a:prstGeom>
          <a:solidFill>
            <a:srgbClr val="26336E"/>
          </a:solidFill>
        </p:spPr>
      </p:sp>
      <p:sp>
        <p:nvSpPr>
          <p:cNvPr id="15" name="Text 13"/>
          <p:cNvSpPr/>
          <p:nvPr/>
        </p:nvSpPr>
        <p:spPr>
          <a:xfrm>
            <a:off x="6181344" y="3310128"/>
            <a:ext cx="224028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嵌入 · 差异性正则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81344" y="3639312"/>
            <a:ext cx="224028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方向相反 → 推开共指节点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181344" y="3968496"/>
            <a:ext cx="224028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0C7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近重复被刻意分开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0080" y="4590288"/>
            <a:ext cx="78638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方向相反，根源相同：</a:t>
            </a:r>
            <a:r>
              <a:rPr lang="en-US" sz="1350" b="1" i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学习对象错了——学的是“跨图节点耦合”，任务要的是“等价关系”。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F2A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由矛盾推出困难清单，一一给出解法</a:t>
            </a:r>
            <a:endParaRPr lang="en-US" sz="2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/>
        </p:nvGraphicFramePr>
        <p:xfrm>
          <a:off x="457200" y="914400"/>
          <a:ext cx="8229600" cy="3456432"/>
        </p:xfrm>
        <a:graphic>
          <a:graphicData uri="http://schemas.openxmlformats.org/drawingml/2006/table">
            <a:tbl>
              <a:tblPr/>
              <a:tblGrid>
                <a:gridCol w="2468880"/>
                <a:gridCol w="2377440"/>
                <a:gridCol w="3383280"/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困难（表面问题）</a:t>
                      </a:r>
                      <a:endParaRPr lang="en-US" sz="11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根源（同一矛盾）</a:t>
                      </a:r>
                      <a:endParaRPr lang="en-US" sz="11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解法</a:t>
                      </a:r>
                      <a:endParaRPr lang="en-US" sz="11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5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1284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图内共指无处表达</a:t>
                      </a:r>
                      <a:endParaRPr lang="en-US" sz="11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1284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S∈R(n1×n2) 没有图内块</a:t>
                      </a:r>
                      <a:endParaRPr lang="en-US" sz="11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从 S 行画像聚类，解码每图分组（已验证）</a:t>
                      </a:r>
                      <a:endParaRPr lang="en-US" sz="11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1284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N-1 / 1-N 被禁止</a:t>
                      </a:r>
                      <a:endParaRPr lang="en-US" sz="11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1284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OT 质量守恒边际约束</a:t>
                      </a:r>
                      <a:endParaRPr lang="en-US" sz="11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先分组，再在商图上 1-1 匹配；或组级 unbalanced OT</a:t>
                      </a:r>
                      <a:endParaRPr lang="en-US" sz="11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1284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拉近组员的正则无效</a:t>
                      </a:r>
                      <a:endParaRPr lang="en-US" sz="11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1284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瓶颈在读出，不在表示</a:t>
                      </a:r>
                      <a:endParaRPr lang="en-US" sz="11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不改编码器，改读出：分组发生在耦合空间</a:t>
                      </a:r>
                      <a:endParaRPr lang="en-US" sz="11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1284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群组规模 k 未知</a:t>
                      </a:r>
                      <a:endParaRPr lang="en-US" sz="11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1284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top-k 读出需要 oracle</a:t>
                      </a:r>
                      <a:endParaRPr lang="en-US" sz="11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阈值式解码，规模由聚类自然涌现</a:t>
                      </a:r>
                      <a:endParaRPr lang="en-US" sz="11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1284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指标虚高 4.7×</a:t>
                      </a:r>
                      <a:endParaRPr lang="en-US" sz="11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1284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适配器回灌真值分组与规模</a:t>
                      </a:r>
                      <a:endParaRPr lang="en-US" sz="11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盲评协议 m2m_blind：预测路径不见真值</a:t>
                      </a:r>
                      <a:endParaRPr lang="en-US" sz="11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1284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监督只有 1-1 锚点</a:t>
                      </a:r>
                      <a:endParaRPr lang="en-US" sz="11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1284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模型从未被告知分组任务</a:t>
                      </a:r>
                      <a:endParaRPr lang="en-US" sz="11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S-profile 自监督 + 锚点升级为组级监督</a:t>
                      </a:r>
                      <a:endParaRPr lang="en-US" sz="11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626864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A647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 2 行解决“表达”，中间 2 行解决“读出”，后 2 行解决“训练与评测”。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F2A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正确的学习对象：等价关系（商图对齐）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160520" cy="969264"/>
          </a:xfrm>
          <a:prstGeom prst="roundRect">
            <a:avLst>
              <a:gd name="adj" fmla="val 6604"/>
            </a:avLst>
          </a:prstGeom>
          <a:solidFill>
            <a:srgbClr val="FBECEA"/>
          </a:solidFill>
        </p:spPr>
      </p:sp>
      <p:sp>
        <p:nvSpPr>
          <p:cNvPr id="4" name="Text 2"/>
          <p:cNvSpPr/>
          <p:nvPr/>
        </p:nvSpPr>
        <p:spPr>
          <a:xfrm>
            <a:off x="621792" y="1005840"/>
            <a:ext cx="3840480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错的对象　</a:t>
            </a:r>
            <a:r>
              <a:rPr lang="en-US" sz="1150" dirty="0">
                <a:solidFill>
                  <a:srgbClr val="2128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跨图节点耦合 S∈R(n1×n2)：只回答“谁对谁”，回答不了“谁和谁是同一个”。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4160520" cy="1225296"/>
          </a:xfrm>
          <a:prstGeom prst="roundRect">
            <a:avLst>
              <a:gd name="adj" fmla="val 5224"/>
            </a:avLst>
          </a:prstGeom>
          <a:solidFill>
            <a:srgbClr val="E8F4F0"/>
          </a:solidFill>
        </p:spPr>
      </p:sp>
      <p:sp>
        <p:nvSpPr>
          <p:cNvPr id="6" name="Text 4"/>
          <p:cNvSpPr/>
          <p:nvPr/>
        </p:nvSpPr>
        <p:spPr>
          <a:xfrm>
            <a:off x="621792" y="2103120"/>
            <a:ext cx="3840480" cy="10424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E7C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对的对象　</a:t>
            </a:r>
            <a:r>
              <a:rPr lang="en-US" sz="1150" dirty="0">
                <a:solidFill>
                  <a:srgbClr val="2128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每图一个划分 + 划分间的匹配：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E7C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M2M(G1,G2) ≡ 划分(G1) + 划分(G2) + 一一对齐(Q1,Q2)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21792" y="3401568"/>
            <a:ext cx="3977640" cy="8412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2A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关键证据　</a:t>
            </a:r>
            <a:r>
              <a:rPr lang="en-US" sz="1150" dirty="0">
                <a:solidFill>
                  <a:srgbClr val="5A647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分组信号已在 S 的行空间：组员行近共线（cos≈0.4），非组员近正交（≈0.0）。先解码、后匹配可行——JOENAGroupDecode 已验证。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21792" y="4315968"/>
            <a:ext cx="397764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2A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优雅之处　</a:t>
            </a:r>
            <a:r>
              <a:rPr lang="en-US" sz="1150" dirty="0">
                <a:solidFill>
                  <a:srgbClr val="5A647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对象一换，排他性先验在商图上重新变得正确——1-1 的全部机器可以复用。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92040" y="914400"/>
            <a:ext cx="3794760" cy="1883664"/>
          </a:xfrm>
          <a:prstGeom prst="roundRect">
            <a:avLst>
              <a:gd name="adj" fmla="val 3398"/>
            </a:avLst>
          </a:prstGeom>
          <a:solidFill>
            <a:srgbClr val="EEF2FA"/>
          </a:solidFill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56632" y="1005840"/>
            <a:ext cx="34747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128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节点级：耦合无处安放“同一实体”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 flipV="1">
            <a:off x="5349240" y="1600200"/>
            <a:ext cx="2770632" cy="91440"/>
          </a:xfrm>
          <a:prstGeom prst="line">
            <a:avLst/>
          </a:prstGeom>
          <a:noFill/>
          <a:ln w="12700">
            <a:solidFill>
              <a:srgbClr val="B7C4E4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5769864" y="1600200"/>
            <a:ext cx="2441448" cy="667512"/>
          </a:xfrm>
          <a:prstGeom prst="line">
            <a:avLst/>
          </a:prstGeom>
          <a:noFill/>
          <a:ln w="12700">
            <a:solidFill>
              <a:srgbClr val="B7C4E4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172200" y="1728216"/>
            <a:ext cx="2039112" cy="539496"/>
          </a:xfrm>
          <a:prstGeom prst="line">
            <a:avLst/>
          </a:prstGeom>
          <a:noFill/>
          <a:ln w="12700">
            <a:solidFill>
              <a:srgbClr val="B7C4E4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 flipV="1">
            <a:off x="5650992" y="1600200"/>
            <a:ext cx="2468880" cy="731520"/>
          </a:xfrm>
          <a:prstGeom prst="line">
            <a:avLst/>
          </a:prstGeom>
          <a:noFill/>
          <a:ln w="12700">
            <a:solidFill>
              <a:srgbClr val="B7C4E4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120640" y="1417320"/>
            <a:ext cx="1325880" cy="566928"/>
          </a:xfrm>
          <a:prstGeom prst="roundRect">
            <a:avLst>
              <a:gd name="adj" fmla="val 29032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 flipV="1">
            <a:off x="5349240" y="1600200"/>
            <a:ext cx="420624" cy="91440"/>
          </a:xfrm>
          <a:prstGeom prst="line">
            <a:avLst/>
          </a:prstGeom>
          <a:noFill/>
          <a:ln w="15240">
            <a:solidFill>
              <a:srgbClr val="E4A9A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69864" y="1600200"/>
            <a:ext cx="402336" cy="128016"/>
          </a:xfrm>
          <a:prstGeom prst="line">
            <a:avLst/>
          </a:prstGeom>
          <a:noFill/>
          <a:ln w="15240">
            <a:solidFill>
              <a:srgbClr val="E4A9A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30368" y="1572768"/>
            <a:ext cx="237744" cy="237744"/>
          </a:xfrm>
          <a:prstGeom prst="ellipse">
            <a:avLst/>
          </a:prstGeom>
          <a:solidFill>
            <a:srgbClr val="C0392B"/>
          </a:solidFill>
        </p:spPr>
      </p:sp>
      <p:sp>
        <p:nvSpPr>
          <p:cNvPr id="19" name="Shape 17"/>
          <p:cNvSpPr/>
          <p:nvPr/>
        </p:nvSpPr>
        <p:spPr>
          <a:xfrm>
            <a:off x="5650992" y="1481328"/>
            <a:ext cx="237744" cy="237744"/>
          </a:xfrm>
          <a:prstGeom prst="ellipse">
            <a:avLst/>
          </a:prstGeom>
          <a:solidFill>
            <a:srgbClr val="C0392B"/>
          </a:solidFill>
        </p:spPr>
      </p:sp>
      <p:sp>
        <p:nvSpPr>
          <p:cNvPr id="20" name="Shape 18"/>
          <p:cNvSpPr/>
          <p:nvPr/>
        </p:nvSpPr>
        <p:spPr>
          <a:xfrm>
            <a:off x="6053328" y="1609344"/>
            <a:ext cx="237744" cy="237744"/>
          </a:xfrm>
          <a:prstGeom prst="ellipse">
            <a:avLst/>
          </a:prstGeom>
          <a:solidFill>
            <a:srgbClr val="C0392B"/>
          </a:solidFill>
        </p:spPr>
      </p:sp>
      <p:sp>
        <p:nvSpPr>
          <p:cNvPr id="21" name="Shape 19"/>
          <p:cNvSpPr/>
          <p:nvPr/>
        </p:nvSpPr>
        <p:spPr>
          <a:xfrm>
            <a:off x="5532120" y="2212848"/>
            <a:ext cx="237744" cy="237744"/>
          </a:xfrm>
          <a:prstGeom prst="ellipse">
            <a:avLst/>
          </a:prstGeom>
          <a:solidFill>
            <a:srgbClr val="1F2A5C"/>
          </a:solidFill>
        </p:spPr>
      </p:sp>
      <p:sp>
        <p:nvSpPr>
          <p:cNvPr id="22" name="Shape 20"/>
          <p:cNvSpPr/>
          <p:nvPr/>
        </p:nvSpPr>
        <p:spPr>
          <a:xfrm>
            <a:off x="8119872" y="1600200"/>
            <a:ext cx="91440" cy="667512"/>
          </a:xfrm>
          <a:prstGeom prst="line">
            <a:avLst/>
          </a:prstGeom>
          <a:noFill/>
          <a:ln w="15240">
            <a:solidFill>
              <a:srgbClr val="9FB3E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01000" y="1481328"/>
            <a:ext cx="237744" cy="237744"/>
          </a:xfrm>
          <a:prstGeom prst="ellipse">
            <a:avLst/>
          </a:prstGeom>
          <a:solidFill>
            <a:srgbClr val="1F2A5C"/>
          </a:solidFill>
        </p:spPr>
      </p:sp>
      <p:sp>
        <p:nvSpPr>
          <p:cNvPr id="24" name="Shape 22"/>
          <p:cNvSpPr/>
          <p:nvPr/>
        </p:nvSpPr>
        <p:spPr>
          <a:xfrm>
            <a:off x="8092440" y="2148840"/>
            <a:ext cx="237744" cy="237744"/>
          </a:xfrm>
          <a:prstGeom prst="ellipse">
            <a:avLst/>
          </a:prstGeom>
          <a:solidFill>
            <a:srgbClr val="1F2A5C"/>
          </a:solidFill>
        </p:spPr>
      </p:sp>
      <p:sp>
        <p:nvSpPr>
          <p:cNvPr id="25" name="Text 23"/>
          <p:cNvSpPr/>
          <p:nvPr/>
        </p:nvSpPr>
        <p:spPr>
          <a:xfrm>
            <a:off x="5056632" y="2450592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47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多条节点级连线互相竞争、彼此矛盾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92040" y="2980944"/>
            <a:ext cx="3794760" cy="1883664"/>
          </a:xfrm>
          <a:prstGeom prst="roundRect">
            <a:avLst>
              <a:gd name="adj" fmla="val 3398"/>
            </a:avLst>
          </a:prstGeom>
          <a:solidFill>
            <a:srgbClr val="E8F4F0"/>
          </a:solidFill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056632" y="3072384"/>
            <a:ext cx="34747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7C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组级（商图）：一一对齐重新成立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257800" y="3520440"/>
            <a:ext cx="365760" cy="365760"/>
          </a:xfrm>
          <a:prstGeom prst="ellipse">
            <a:avLst/>
          </a:prstGeom>
          <a:solidFill>
            <a:srgbClr val="0E7C66"/>
          </a:solidFill>
        </p:spPr>
      </p:sp>
      <p:sp>
        <p:nvSpPr>
          <p:cNvPr id="29" name="Shape 27"/>
          <p:cNvSpPr/>
          <p:nvPr/>
        </p:nvSpPr>
        <p:spPr>
          <a:xfrm>
            <a:off x="5257800" y="4160520"/>
            <a:ext cx="365760" cy="365760"/>
          </a:xfrm>
          <a:prstGeom prst="ellipse">
            <a:avLst/>
          </a:prstGeom>
          <a:solidFill>
            <a:srgbClr val="0E7C66"/>
          </a:solidFill>
        </p:spPr>
      </p:sp>
      <p:sp>
        <p:nvSpPr>
          <p:cNvPr id="30" name="Shape 28"/>
          <p:cNvSpPr/>
          <p:nvPr/>
        </p:nvSpPr>
        <p:spPr>
          <a:xfrm>
            <a:off x="8092440" y="3520440"/>
            <a:ext cx="365760" cy="365760"/>
          </a:xfrm>
          <a:prstGeom prst="ellipse">
            <a:avLst/>
          </a:prstGeom>
          <a:solidFill>
            <a:srgbClr val="0E7C66"/>
          </a:solidFill>
        </p:spPr>
      </p:sp>
      <p:sp>
        <p:nvSpPr>
          <p:cNvPr id="31" name="Shape 29"/>
          <p:cNvSpPr/>
          <p:nvPr/>
        </p:nvSpPr>
        <p:spPr>
          <a:xfrm>
            <a:off x="8092440" y="4160520"/>
            <a:ext cx="365760" cy="365760"/>
          </a:xfrm>
          <a:prstGeom prst="ellipse">
            <a:avLst/>
          </a:prstGeom>
          <a:solidFill>
            <a:srgbClr val="0E7C66"/>
          </a:solidFill>
        </p:spPr>
      </p:sp>
      <p:sp>
        <p:nvSpPr>
          <p:cNvPr id="32" name="Shape 30"/>
          <p:cNvSpPr/>
          <p:nvPr/>
        </p:nvSpPr>
        <p:spPr>
          <a:xfrm>
            <a:off x="5669280" y="3703320"/>
            <a:ext cx="2395728" cy="0"/>
          </a:xfrm>
          <a:prstGeom prst="line">
            <a:avLst/>
          </a:prstGeom>
          <a:noFill/>
          <a:ln w="20320">
            <a:solidFill>
              <a:srgbClr val="0E7C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669280" y="4343400"/>
            <a:ext cx="2395728" cy="0"/>
          </a:xfrm>
          <a:prstGeom prst="line">
            <a:avLst/>
          </a:prstGeom>
          <a:noFill/>
          <a:ln w="20320">
            <a:solidFill>
              <a:srgbClr val="0E7C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806440" y="455371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47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超节点 = 一个群组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F2A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围绕机制设计训练目标：三步路线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E8F4F0"/>
          </a:solidFill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078992"/>
            <a:ext cx="2286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第一步 · 已验证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89888"/>
            <a:ext cx="22860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128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解码式读出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40080" y="1847088"/>
            <a:ext cx="2304288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训练完全不动；读出改为 S-profile 聚类 + 组级匹配（JOENAGroupDecode）。盲评下即可用，是当前的工作基线。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090672" y="1883664"/>
            <a:ext cx="32918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A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383280" y="932688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EEF2FA"/>
          </a:solidFill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66160" y="1078992"/>
            <a:ext cx="2286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A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第二步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566160" y="1389888"/>
            <a:ext cx="22860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128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端到端 profile 对比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3566160" y="1847088"/>
            <a:ext cx="2304288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把机制本身写成损失：拉近组员的 S 行、推开非组员的 S 行——对比发生在耦合行空间，而非嵌入空间（嵌入正则已证无效）。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016752" y="1883664"/>
            <a:ext cx="32918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A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309360" y="932688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EEF2FA"/>
          </a:solidFill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1078992"/>
            <a:ext cx="2286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A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0" y="1389888"/>
            <a:ext cx="22860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128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组级最优传输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492240" y="1847088"/>
            <a:ext cx="2304288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unbalanced / partial OT：质量在“组”粒度守恒。边际约束从禁令变回工具，N-1 / 1-N 自然可行。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602736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F2A5C"/>
          </a:solidFill>
        </p:spPr>
      </p:sp>
      <p:sp>
        <p:nvSpPr>
          <p:cNvPr id="18" name="Text 16"/>
          <p:cNvSpPr/>
          <p:nvPr/>
        </p:nvSpPr>
        <p:spPr>
          <a:xfrm>
            <a:off x="713232" y="3749040"/>
            <a:ext cx="7772400" cy="9326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F0C7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方法论　</a:t>
            </a:r>
            <a:r>
              <a:rPr lang="en-US" sz="12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好创新 ≠ 堆复杂模块；= 观察异常 → 统一成一个机制 → 围绕机制设计目标。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F0C7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评测纪律　</a:t>
            </a:r>
            <a:r>
              <a:rPr lang="en-US" sz="125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全程盲评（ACS / MSF1 / MicroF1 / M2M-SGS / M2M-EGS），预测路径永不接触真值分组与规模。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F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结论：一个矛盾 · 一个机制 · 一个对象 · 一条路线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48640" y="969264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26336E"/>
          </a:solidFill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68096" y="109728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C7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一个矛盾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8096" y="1499616"/>
            <a:ext cx="35204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节点级排他性 vs 实体级等价类——一对一的胜因，恰是多对多的败因。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663440" y="969264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26336E"/>
          </a:solidFill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82896" y="109728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C7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一个机制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882896" y="1499616"/>
            <a:ext cx="35204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分组信号已在 S 的行空间；瓶颈在读出，不在表示。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596896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26336E"/>
          </a:solidFill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68096" y="2724912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C7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一个对象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68096" y="3127248"/>
            <a:ext cx="35204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等价关系 / 商图：M2M 归约为“分组 + 商图上的 1-1”。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63440" y="2596896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26336E"/>
          </a:solidFill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82896" y="2724912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C7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一条路线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882896" y="3127248"/>
            <a:ext cx="35204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解码式（已验证）→ profile 对比 → 组级 OT；全程盲评。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4498848"/>
            <a:ext cx="804672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FA3D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全部数字可复现：scripts/diagnose_m2m_failure.py · logs/m2m_diag/diagnose_m2m_failure.json · docs/m2m_why_one_to_one_fails.md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2728</Words>
  <Application>WPS 文字</Application>
  <PresentationFormat>On-screen Show (16:9)</PresentationFormat>
  <Paragraphs>262</Paragraphs>
  <Slides>9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24" baseType="lpstr">
      <vt:lpstr>Arial</vt:lpstr>
      <vt:lpstr>宋体</vt:lpstr>
      <vt:lpstr>Wingdings</vt:lpstr>
      <vt:lpstr>微软雅黑</vt:lpstr>
      <vt:lpstr>汉仪旗黑</vt:lpstr>
      <vt:lpstr>微软雅黑</vt:lpstr>
      <vt:lpstr>微软雅黑</vt:lpstr>
      <vt:lpstr>Calibri</vt:lpstr>
      <vt:lpstr>Helvetica Neue</vt:lpstr>
      <vt:lpstr>宋体</vt:lpstr>
      <vt:lpstr>Arial Unicode MS</vt:lpstr>
      <vt:lpstr>汉仪书宋二KW</vt:lpstr>
      <vt:lpstr>等线</vt:lpstr>
      <vt:lpstr>汉仪中等线KW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一对一图对齐为什么解不了多对多</dc:title>
  <dc:creator>PlanetAlign M2M analysis</dc:creator>
  <dc:subject>PptxGenJS Presentation</dc:subject>
  <cp:lastModifiedBy>于可欣</cp:lastModifiedBy>
  <cp:revision>2</cp:revision>
  <dcterms:created xsi:type="dcterms:W3CDTF">2026-07-09T02:23:41Z</dcterms:created>
  <dcterms:modified xsi:type="dcterms:W3CDTF">2026-07-09T02:23:41Z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2052-12.1.25195.25195</vt:lpwstr>
  </property>
  <property fmtid="{D5CDD505-2E9C-101B-9397-08002B2CF9AE}" pid="3" name="ICV">
    <vt:lpwstr>D04619F7D49DD7EF2D064F6AF6EB533F_42</vt:lpwstr>
  </property>
</Properties>
</file>